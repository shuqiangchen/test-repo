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84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3" r:id="rId3"/>
    <p:sldId id="257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sage Guidelines and Tips" id="{17CC79DD-37B0-4B7C-8116-D0831BF3F79A}">
          <p14:sldIdLst>
            <p14:sldId id="256"/>
            <p14:sldId id="263"/>
            <p14:sldId id="257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</p14:sldIdLst>
        </p14:section>
        <p14:section name="Common Graphical Elements" id="{67133902-480C-41A1-900E-89C1C423EDFF}">
          <p14:sldIdLst/>
        </p14:section>
        <p14:section name="Charts" id="{437A1A37-5BD8-4397-B5AA-3B129B888F73}">
          <p14:sldIdLst/>
        </p14:section>
        <p14:section name="Basic Presentation Layouts" id="{DA2B6DAE-0E6A-40CE-B54D-6DA02F1EF2D7}">
          <p14:sldIdLst/>
        </p14:section>
      </p14:sectionLst>
    </p:ext>
    <p:ext uri="{EFAFB233-063F-42B5-8137-9DF3F51BA10A}">
      <p15:sldGuideLst xmlns="" xmlns:p15="http://schemas.microsoft.com/office/powerpoint/2012/main">
        <p15:guide id="1" orient="horz" pos="4023">
          <p15:clr>
            <a:srgbClr val="A4A3A4"/>
          </p15:clr>
        </p15:guide>
        <p15:guide id="2" orient="horz" pos="168">
          <p15:clr>
            <a:srgbClr val="A4A3A4"/>
          </p15:clr>
        </p15:guide>
        <p15:guide id="3" pos="335">
          <p15:clr>
            <a:srgbClr val="A4A3A4"/>
          </p15:clr>
        </p15:guide>
        <p15:guide id="4" pos="5425">
          <p15:clr>
            <a:srgbClr val="A4A3A4"/>
          </p15:clr>
        </p15:guide>
        <p15:guide id="5" pos="227">
          <p15:clr>
            <a:srgbClr val="A4A3A4"/>
          </p15:clr>
        </p15:guide>
        <p15:guide id="6" pos="5533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5472">
          <p15:clr>
            <a:srgbClr val="A4A3A4"/>
          </p15:clr>
        </p15:guide>
        <p15:guide id="2" orient="horz" pos="288">
          <p15:clr>
            <a:srgbClr val="A4A3A4"/>
          </p15:clr>
        </p15:guide>
        <p15:guide id="3" pos="288">
          <p15:clr>
            <a:srgbClr val="A4A3A4"/>
          </p15:clr>
        </p15:guide>
        <p15:guide id="4" pos="403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60"/>
    <a:srgbClr val="000000"/>
    <a:srgbClr val="595959"/>
    <a:srgbClr val="008AB0"/>
    <a:srgbClr val="455560"/>
    <a:srgbClr val="2C465A"/>
    <a:srgbClr val="A51C30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97879" autoAdjust="0"/>
  </p:normalViewPr>
  <p:slideViewPr>
    <p:cSldViewPr snapToGrid="0" showGuides="1">
      <p:cViewPr>
        <p:scale>
          <a:sx n="97" d="100"/>
          <a:sy n="97" d="100"/>
        </p:scale>
        <p:origin x="-1260" y="186"/>
      </p:cViewPr>
      <p:guideLst>
        <p:guide orient="horz" pos="4023"/>
        <p:guide orient="horz" pos="168"/>
        <p:guide pos="335"/>
        <p:guide pos="5425"/>
        <p:guide pos="227"/>
        <p:guide pos="55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78" d="100"/>
          <a:sy n="78" d="100"/>
        </p:scale>
        <p:origin x="-2070" y="-96"/>
      </p:cViewPr>
      <p:guideLst>
        <p:guide orient="horz" pos="5472"/>
        <p:guide orient="horz" pos="288"/>
        <p:guide pos="288"/>
        <p:guide pos="403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5362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457200"/>
            <a:ext cx="54864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1" name="Notes Placeholder 10"/>
          <p:cNvSpPr>
            <a:spLocks noGrp="1"/>
          </p:cNvSpPr>
          <p:nvPr>
            <p:ph type="body" sz="quarter" idx="3"/>
          </p:nvPr>
        </p:nvSpPr>
        <p:spPr>
          <a:xfrm>
            <a:off x="685800" y="5010150"/>
            <a:ext cx="5486400" cy="3657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 smtClean="0"/>
              <a:t>Bulleted text – Arial 14pt Regular</a:t>
            </a:r>
          </a:p>
          <a:p>
            <a:r>
              <a:rPr lang="en-US" dirty="0" smtClean="0"/>
              <a:t>Space between bullets is set to 6pt</a:t>
            </a:r>
          </a:p>
          <a:p>
            <a:r>
              <a:rPr lang="en-US" dirty="0" smtClean="0"/>
              <a:t>Five bullet levels are built in (hit Enter then Tab to get to the next bullet level)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3141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69863" indent="-169863" algn="l" defTabSz="914400" rtl="0" eaLnBrk="1" latinLnBrk="0" hangingPunct="1">
      <a:spcBef>
        <a:spcPts val="600"/>
      </a:spcBef>
      <a:buClrTx/>
      <a:buSzPct val="100000"/>
      <a:buFont typeface="Arial" pitchFamily="34" charset="0"/>
      <a:buChar char="•"/>
      <a:defRPr kumimoji="0" lang="en-US" sz="1400" kern="1200" dirty="0" smtClean="0">
        <a:solidFill>
          <a:schemeClr val="tx1"/>
        </a:solidFill>
        <a:latin typeface="+mn-lt"/>
        <a:ea typeface="+mn-ea"/>
        <a:cs typeface="+mn-cs"/>
      </a:defRPr>
    </a:lvl1pPr>
    <a:lvl2pPr marL="339725" indent="-169863" algn="l" defTabSz="914400" rtl="0" eaLnBrk="1" latinLnBrk="0" hangingPunct="1">
      <a:spcBef>
        <a:spcPts val="600"/>
      </a:spcBef>
      <a:buClrTx/>
      <a:buSzPct val="100000"/>
      <a:buFont typeface="Arial" pitchFamily="34" charset="0"/>
      <a:buChar char="•"/>
      <a:defRPr kumimoji="0" lang="en-US" sz="1400" kern="1200" dirty="0" smtClean="0">
        <a:solidFill>
          <a:schemeClr val="tx1"/>
        </a:solidFill>
        <a:latin typeface="+mn-lt"/>
        <a:ea typeface="+mn-ea"/>
        <a:cs typeface="+mn-cs"/>
      </a:defRPr>
    </a:lvl2pPr>
    <a:lvl3pPr marL="509588" indent="-169863" algn="l" defTabSz="914400" rtl="0" eaLnBrk="1" latinLnBrk="0" hangingPunct="1">
      <a:spcBef>
        <a:spcPts val="600"/>
      </a:spcBef>
      <a:buClrTx/>
      <a:buSzPct val="100000"/>
      <a:buFont typeface="Arial" pitchFamily="34" charset="0"/>
      <a:buChar char="•"/>
      <a:defRPr kumimoji="0" lang="en-US" sz="1400" kern="1200" dirty="0" smtClean="0">
        <a:solidFill>
          <a:schemeClr val="tx1"/>
        </a:solidFill>
        <a:latin typeface="+mn-lt"/>
        <a:ea typeface="+mn-ea"/>
        <a:cs typeface="+mn-cs"/>
      </a:defRPr>
    </a:lvl3pPr>
    <a:lvl4pPr marL="690563" indent="-180975" algn="l" defTabSz="914400" rtl="0" eaLnBrk="1" latinLnBrk="0" hangingPunct="1">
      <a:spcBef>
        <a:spcPts val="600"/>
      </a:spcBef>
      <a:buClrTx/>
      <a:buSzPct val="100000"/>
      <a:buFont typeface="Arial" pitchFamily="34" charset="0"/>
      <a:buChar char="•"/>
      <a:defRPr kumimoji="0" lang="en-US" sz="1400" kern="1200" dirty="0" smtClean="0">
        <a:solidFill>
          <a:schemeClr val="tx1"/>
        </a:solidFill>
        <a:latin typeface="+mn-lt"/>
        <a:ea typeface="+mn-ea"/>
        <a:cs typeface="+mn-cs"/>
      </a:defRPr>
    </a:lvl4pPr>
    <a:lvl5pPr marL="862013" indent="-171450" algn="l" defTabSz="914400" rtl="0" eaLnBrk="1" latinLnBrk="0" hangingPunct="1">
      <a:spcBef>
        <a:spcPts val="600"/>
      </a:spcBef>
      <a:buClrTx/>
      <a:buSzPct val="100000"/>
      <a:buFont typeface="Arial" pitchFamily="34" charset="0"/>
      <a:buChar char="•"/>
      <a:defRPr kumimoji="0" lang="en-US" sz="1400" kern="1200" dirty="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0831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Partners Founded By_horizontal_4.15_color_minsize_oldcmyk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57400" y="832104"/>
            <a:ext cx="5943612" cy="722377"/>
          </a:xfrm>
          <a:prstGeom prst="rect">
            <a:avLst/>
          </a:prstGeom>
        </p:spPr>
      </p:pic>
      <p:sp>
        <p:nvSpPr>
          <p:cNvPr id="19" name="Rectangle 18"/>
          <p:cNvSpPr/>
          <p:nvPr userDrawn="1"/>
        </p:nvSpPr>
        <p:spPr>
          <a:xfrm>
            <a:off x="-1" y="0"/>
            <a:ext cx="1433016" cy="6876288"/>
          </a:xfrm>
          <a:prstGeom prst="rect">
            <a:avLst/>
          </a:prstGeom>
          <a:solidFill>
            <a:srgbClr val="00496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Rectangle 19"/>
          <p:cNvSpPr/>
          <p:nvPr userDrawn="1"/>
        </p:nvSpPr>
        <p:spPr>
          <a:xfrm>
            <a:off x="1408332" y="-2"/>
            <a:ext cx="45719" cy="6876288"/>
          </a:xfrm>
          <a:prstGeom prst="rect">
            <a:avLst/>
          </a:prstGeom>
          <a:solidFill>
            <a:srgbClr val="008AB0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Title 7"/>
          <p:cNvSpPr>
            <a:spLocks noGrp="1"/>
          </p:cNvSpPr>
          <p:nvPr>
            <p:ph type="ctrTitle" hasCustomPrompt="1"/>
          </p:nvPr>
        </p:nvSpPr>
        <p:spPr>
          <a:xfrm>
            <a:off x="3861880" y="2135188"/>
            <a:ext cx="4663737" cy="1188721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3600"/>
              </a:lnSpc>
              <a:defRPr sz="2400" cap="none" baseline="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</a:defRPr>
            </a:lvl1pPr>
          </a:lstStyle>
          <a:p>
            <a:r>
              <a:rPr kumimoji="0" lang="en-US" dirty="0" smtClean="0"/>
              <a:t>Presentation Title </a:t>
            </a:r>
            <a:br>
              <a:rPr kumimoji="0" lang="en-US" dirty="0" smtClean="0"/>
            </a:br>
            <a:r>
              <a:rPr kumimoji="0" lang="en-US" dirty="0" smtClean="0"/>
              <a:t>Palatino 24pt Bold</a:t>
            </a:r>
            <a:endParaRPr kumimoji="0"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 hasCustomPrompt="1"/>
          </p:nvPr>
        </p:nvSpPr>
        <p:spPr>
          <a:xfrm>
            <a:off x="3858768" y="3568422"/>
            <a:ext cx="4659100" cy="539239"/>
          </a:xfrm>
          <a:noFill/>
        </p:spPr>
        <p:txBody>
          <a:bodyPr anchor="ctr">
            <a:noAutofit/>
          </a:bodyPr>
          <a:lstStyle>
            <a:lvl1pPr marL="0" indent="0" algn="l">
              <a:spcBef>
                <a:spcPts val="0"/>
              </a:spcBef>
              <a:buNone/>
              <a:defRPr sz="2000" b="1" i="1" baseline="0">
                <a:solidFill>
                  <a:srgbClr val="595959"/>
                </a:solidFill>
                <a:latin typeface="Palatino Linotype" pitchFamily="18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dirty="0" smtClean="0"/>
              <a:t>Presentation Subtitle Palatino 20pt </a:t>
            </a:r>
            <a:br>
              <a:rPr kumimoji="0" lang="en-US" dirty="0" smtClean="0"/>
            </a:br>
            <a:r>
              <a:rPr kumimoji="0" lang="en-US" dirty="0" smtClean="0"/>
              <a:t>Bold, Italics</a:t>
            </a:r>
            <a:endParaRPr kumimoji="0"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 hasCustomPrompt="1"/>
          </p:nvPr>
        </p:nvSpPr>
        <p:spPr>
          <a:xfrm>
            <a:off x="3858768" y="4391003"/>
            <a:ext cx="4663440" cy="1106425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400" baseline="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</a:defRPr>
            </a:lvl1pPr>
            <a:lvl2pPr marL="0" indent="0">
              <a:buNone/>
              <a:defRPr/>
            </a:lvl2pPr>
            <a:lvl3pPr marL="0" indent="0">
              <a:buNone/>
              <a:defRPr/>
            </a:lvl3pPr>
            <a:lvl4pPr marL="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 dirty="0" smtClean="0"/>
              <a:t>Additional presentation details, such as date, </a:t>
            </a:r>
          </a:p>
          <a:p>
            <a:pPr lvl="0"/>
            <a:r>
              <a:rPr lang="en-US" dirty="0" smtClean="0"/>
              <a:t>location, names, etc. in Palatino 14pt Regular </a:t>
            </a:r>
            <a:endParaRPr lang="en-US" dirty="0"/>
          </a:p>
        </p:txBody>
      </p:sp>
      <p:pic>
        <p:nvPicPr>
          <p:cNvPr id="22" name="Picture 21" descr="community.png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4597" y="5486383"/>
            <a:ext cx="908306" cy="908306"/>
          </a:xfrm>
          <a:prstGeom prst="rect">
            <a:avLst/>
          </a:prstGeom>
        </p:spPr>
      </p:pic>
      <p:pic>
        <p:nvPicPr>
          <p:cNvPr id="25" name="Picture 24" descr="patientcare.png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74847" y="1894223"/>
            <a:ext cx="911354" cy="993650"/>
          </a:xfrm>
          <a:prstGeom prst="rect">
            <a:avLst/>
          </a:prstGeom>
        </p:spPr>
      </p:pic>
      <p:pic>
        <p:nvPicPr>
          <p:cNvPr id="17" name="Picture 16" descr="DNA_strand.png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75855" y="4302553"/>
            <a:ext cx="908306" cy="908306"/>
          </a:xfrm>
          <a:prstGeom prst="rect">
            <a:avLst/>
          </a:prstGeom>
        </p:spPr>
      </p:pic>
      <p:pic>
        <p:nvPicPr>
          <p:cNvPr id="18" name="Picture 17" descr="openbook_whitepgs.png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75862" y="3121150"/>
            <a:ext cx="908306" cy="908306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(Option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 bwMode="gray">
          <a:xfrm>
            <a:off x="0" y="1631290"/>
            <a:ext cx="9144000" cy="1016814"/>
          </a:xfrm>
          <a:prstGeom prst="rect">
            <a:avLst/>
          </a:prstGeom>
          <a:solidFill>
            <a:srgbClr val="00496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 defTabSz="1463675"/>
            <a:endParaRPr lang="en-US" sz="1400" dirty="0" smtClean="0">
              <a:latin typeface="+mn-lt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234438" y="3307318"/>
            <a:ext cx="7377749" cy="1788440"/>
          </a:xfrm>
        </p:spPr>
        <p:txBody>
          <a:bodyPr anchor="t"/>
          <a:lstStyle>
            <a:lvl1pPr marL="0" indent="0">
              <a:buNone/>
              <a:defRPr sz="1400" baseline="0">
                <a:solidFill>
                  <a:srgbClr val="595959"/>
                </a:solidFill>
                <a:latin typeface="Palatino Linotype" pitchFamily="18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 smtClean="0"/>
              <a:t>Additional section details in Palatino 14pt Regular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34439" y="1623965"/>
            <a:ext cx="7315200" cy="929040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baseline="0">
                <a:solidFill>
                  <a:schemeClr val="bg1"/>
                </a:solidFill>
                <a:latin typeface="Palatino Linotype" pitchFamily="18" charset="0"/>
              </a:defRPr>
            </a:lvl1pPr>
          </a:lstStyle>
          <a:p>
            <a:r>
              <a:rPr lang="en-US" dirty="0" smtClean="0"/>
              <a:t>Section Title Palatino 24pt Bold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1234438" y="2803137"/>
            <a:ext cx="7377749" cy="444560"/>
          </a:xfrm>
        </p:spPr>
        <p:txBody>
          <a:bodyPr anchor="ctr"/>
          <a:lstStyle>
            <a:lvl1pPr marL="0" indent="0" eaLnBrk="1" latinLnBrk="0" hangingPunct="1">
              <a:buNone/>
              <a:defRPr sz="2000" b="1" i="1" baseline="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dirty="0" smtClean="0"/>
              <a:t>Section Subtitle </a:t>
            </a:r>
            <a:r>
              <a:rPr lang="en-US" dirty="0" smtClean="0"/>
              <a:t>Palatino </a:t>
            </a:r>
            <a:r>
              <a:rPr kumimoji="0" lang="en-US" dirty="0" smtClean="0"/>
              <a:t>20pt Bold, Italics</a:t>
            </a: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8897112" y="6693408"/>
            <a:ext cx="228600" cy="146304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ctr">
              <a:defRPr sz="9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0F801-82B8-4697-8B4B-E3DFE003097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Palatino Linotype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Palatino Linotype" pitchFamily="18" charset="0"/>
              <a:ea typeface="+mn-ea"/>
              <a:cs typeface="+mn-cs"/>
            </a:endParaRPr>
          </a:p>
        </p:txBody>
      </p:sp>
      <p:cxnSp>
        <p:nvCxnSpPr>
          <p:cNvPr id="12" name="Straight Connector 11"/>
          <p:cNvCxnSpPr/>
          <p:nvPr userDrawn="1"/>
        </p:nvCxnSpPr>
        <p:spPr>
          <a:xfrm>
            <a:off x="0" y="2600836"/>
            <a:ext cx="9144000" cy="0"/>
          </a:xfrm>
          <a:prstGeom prst="line">
            <a:avLst/>
          </a:prstGeom>
          <a:ln w="88900" cmpd="sng">
            <a:solidFill>
              <a:srgbClr val="008AB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4"/>
          <p:cNvSpPr txBox="1">
            <a:spLocks/>
          </p:cNvSpPr>
          <p:nvPr userDrawn="1"/>
        </p:nvSpPr>
        <p:spPr>
          <a:xfrm>
            <a:off x="8897112" y="6693408"/>
            <a:ext cx="228600" cy="146304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ctr">
              <a:defRPr sz="9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0F801-82B8-4697-8B4B-E3DFE003097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Palatino Linotype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Palatino Linotype" pitchFamily="18" charset="0"/>
              <a:ea typeface="+mn-ea"/>
              <a:cs typeface="+mn-cs"/>
            </a:endParaRPr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32640" y="5973942"/>
            <a:ext cx="4421187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114300" indent="-114300" algn="l">
              <a:spcBef>
                <a:spcPts val="0"/>
              </a:spcBef>
              <a:buFont typeface="+mj-lt"/>
              <a:buAutoNum type="arabicParenR"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Click to add footnote. Numbers appear automatically (no additional space or tab needed). Use a period at the end of each footnote. Stretch the box to the right as needed.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640" y="6293982"/>
            <a:ext cx="3310759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Source: Click to add source. Use a single space after “Source:” and a period at the end of the source. Stretch the box to the left as needed.</a:t>
            </a:r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128837"/>
            <a:ext cx="8229600" cy="466341"/>
          </a:xfrm>
          <a:prstGeom prst="rect">
            <a:avLst/>
          </a:prstGeom>
        </p:spPr>
        <p:txBody>
          <a:bodyPr/>
          <a:lstStyle>
            <a:lvl1pPr>
              <a:defRPr i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>Title Palatino 24pt bold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5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598643"/>
            <a:ext cx="8229600" cy="300037"/>
          </a:xfrm>
        </p:spPr>
        <p:txBody>
          <a:bodyPr/>
          <a:lstStyle>
            <a:lvl1pPr>
              <a:buFontTx/>
              <a:buNone/>
              <a:defRPr sz="2000" b="1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 smtClean="0"/>
              <a:t>Subtitle Palatino 20pt bold, italics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407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128837"/>
            <a:ext cx="8229600" cy="466341"/>
          </a:xfrm>
          <a:prstGeom prst="rect">
            <a:avLst/>
          </a:prstGeom>
        </p:spPr>
        <p:txBody>
          <a:bodyPr/>
          <a:lstStyle>
            <a:lvl1pPr>
              <a:defRPr i="0" baseline="0">
                <a:solidFill>
                  <a:srgbClr val="595959"/>
                </a:solidFill>
              </a:defRPr>
            </a:lvl1pPr>
          </a:lstStyle>
          <a:p>
            <a:r>
              <a:rPr lang="en-US" dirty="0" smtClean="0"/>
              <a:t>Title Palatino 24pt bold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8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598643"/>
            <a:ext cx="8229600" cy="300037"/>
          </a:xfrm>
        </p:spPr>
        <p:txBody>
          <a:bodyPr/>
          <a:lstStyle>
            <a:lvl1pPr>
              <a:buFontTx/>
              <a:buNone/>
              <a:defRPr sz="2000" b="1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 smtClean="0"/>
              <a:t>Subtitle Palatino 20pt bold, italics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457199" y="1152144"/>
            <a:ext cx="8439912" cy="5038344"/>
          </a:xfrm>
        </p:spPr>
        <p:txBody>
          <a:bodyPr/>
          <a:lstStyle>
            <a:lvl1pPr marL="231775" marR="0" indent="-2317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baseline="0">
                <a:solidFill>
                  <a:srgbClr val="000000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edit Master text styles Palatino 18pt Regular</a:t>
            </a:r>
          </a:p>
          <a:p>
            <a:pPr marL="231775" marR="0" lvl="0" indent="-2317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 smtClean="0"/>
              <a:t>Second line with line spacing at 1.0 and no space before or after</a:t>
            </a:r>
          </a:p>
          <a:p>
            <a:pPr lvl="0"/>
            <a:endParaRPr lang="en-US" dirty="0"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128837"/>
            <a:ext cx="8229600" cy="778248"/>
          </a:xfrm>
          <a:prstGeom prst="rect">
            <a:avLst/>
          </a:prstGeom>
        </p:spPr>
        <p:txBody>
          <a:bodyPr anchor="b"/>
          <a:lstStyle>
            <a:lvl1pPr>
              <a:defRPr i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Title Palatino 24pt bold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23" hasCustomPrompt="1"/>
          </p:nvPr>
        </p:nvSpPr>
        <p:spPr>
          <a:xfrm>
            <a:off x="457199" y="1152144"/>
            <a:ext cx="8439912" cy="5038344"/>
          </a:xfrm>
        </p:spPr>
        <p:txBody>
          <a:bodyPr/>
          <a:lstStyle>
            <a:lvl1pPr marL="231775" marR="0" indent="-2317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 baseline="0">
                <a:solidFill>
                  <a:srgbClr val="000000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 smtClean="0"/>
              <a:t>Click to edit Master text styles Palatino 18pt Regular</a:t>
            </a:r>
          </a:p>
          <a:p>
            <a:pPr marL="231775" marR="0" lvl="0" indent="-2317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n-US" dirty="0" smtClean="0"/>
              <a:t>Second line with line spacing at 1.0 and no space before or after</a:t>
            </a:r>
          </a:p>
          <a:p>
            <a:pPr lvl="0"/>
            <a:endParaRPr lang="en-US" dirty="0"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352425" y="1152524"/>
            <a:ext cx="8439150" cy="5037963"/>
          </a:xfrm>
        </p:spPr>
        <p:txBody>
          <a:bodyPr/>
          <a:lstStyle>
            <a:lvl1pPr>
              <a:spcBef>
                <a:spcPts val="600"/>
              </a:spcBef>
              <a:buClrTx/>
              <a:defRPr sz="1800">
                <a:solidFill>
                  <a:srgbClr val="000000"/>
                </a:solidFill>
                <a:latin typeface="Palatino Linotype" pitchFamily="18" charset="0"/>
              </a:defRPr>
            </a:lvl1pPr>
            <a:lvl2pPr marL="514350" indent="-282575">
              <a:spcBef>
                <a:spcPts val="600"/>
              </a:spcBef>
              <a:buClrTx/>
              <a:defRPr sz="1600">
                <a:solidFill>
                  <a:srgbClr val="000000"/>
                </a:solidFill>
                <a:latin typeface="Palatino Linotype" pitchFamily="18" charset="0"/>
              </a:defRPr>
            </a:lvl2pPr>
            <a:lvl3pPr marL="746125" indent="-231775">
              <a:spcBef>
                <a:spcPts val="600"/>
              </a:spcBef>
              <a:buClrTx/>
              <a:buFont typeface="Palatino Linotype" pitchFamily="18" charset="0"/>
              <a:buChar char="»"/>
              <a:defRPr sz="1400">
                <a:solidFill>
                  <a:srgbClr val="000000"/>
                </a:solidFill>
                <a:latin typeface="Palatino Linotype" pitchFamily="18" charset="0"/>
              </a:defRPr>
            </a:lvl3pPr>
            <a:lvl4pPr marL="1030288" indent="-284163">
              <a:spcBef>
                <a:spcPts val="600"/>
              </a:spcBef>
              <a:buClrTx/>
              <a:defRPr sz="1600">
                <a:solidFill>
                  <a:srgbClr val="000000"/>
                </a:solidFill>
                <a:latin typeface="Palatino Linotype" pitchFamily="18" charset="0"/>
              </a:defRPr>
            </a:lvl4pPr>
            <a:lvl5pPr marL="1260475" indent="-230188">
              <a:spcBef>
                <a:spcPts val="600"/>
              </a:spcBef>
              <a:buClrTx/>
              <a:defRPr sz="1600">
                <a:solidFill>
                  <a:srgbClr val="000000"/>
                </a:solidFill>
                <a:latin typeface="Palatino Linotype" pitchFamily="18" charset="0"/>
              </a:defRPr>
            </a:lvl5pPr>
          </a:lstStyle>
          <a:p>
            <a:pPr lvl="0"/>
            <a:r>
              <a:rPr lang="en-US" dirty="0" smtClean="0"/>
              <a:t>Bulleted text – Palatino 18pt Regular</a:t>
            </a:r>
            <a:br>
              <a:rPr lang="en-US" dirty="0" smtClean="0"/>
            </a:br>
            <a:r>
              <a:rPr lang="en-US" dirty="0" smtClean="0"/>
              <a:t>(Hit Enter then Tab to get to the next bullet level)</a:t>
            </a:r>
          </a:p>
          <a:p>
            <a:pPr lvl="1"/>
            <a:r>
              <a:rPr lang="en-US" dirty="0" smtClean="0"/>
              <a:t>Second level 16pt Regular</a:t>
            </a:r>
          </a:p>
          <a:p>
            <a:pPr lvl="2"/>
            <a:r>
              <a:rPr lang="en-US" dirty="0" smtClean="0"/>
              <a:t>Third level 14pt Regular</a:t>
            </a: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8897112" y="6693408"/>
            <a:ext cx="228600" cy="146304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ctr">
              <a:defRPr sz="9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0F801-82B8-4697-8B4B-E3DFE003097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Palatino Linotype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Palatino Linotype" pitchFamily="18" charset="0"/>
              <a:ea typeface="+mn-ea"/>
              <a:cs typeface="+mn-cs"/>
            </a:endParaRPr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32640" y="5973942"/>
            <a:ext cx="4421187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114300" indent="-114300" algn="l">
              <a:spcBef>
                <a:spcPts val="0"/>
              </a:spcBef>
              <a:buFont typeface="+mj-lt"/>
              <a:buAutoNum type="arabicParenR"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Click to add footnote. Numbers appear automatically (no additional space or tab needed). Use a period at the end of each footnote. Stretch the box to the right as needed.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640" y="6293982"/>
            <a:ext cx="3310759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Source: Click to add source. Use a single space after “Source:” and a period at the end of the source. Stretch the box to the left as needed.</a:t>
            </a:r>
            <a:endParaRPr lang="en-US" dirty="0"/>
          </a:p>
        </p:txBody>
      </p:sp>
      <p:sp>
        <p:nvSpPr>
          <p:cNvPr id="9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128837"/>
            <a:ext cx="8229600" cy="466341"/>
          </a:xfrm>
          <a:prstGeom prst="rect">
            <a:avLst/>
          </a:prstGeom>
        </p:spPr>
        <p:txBody>
          <a:bodyPr/>
          <a:lstStyle>
            <a:lvl1pPr>
              <a:defRPr i="0" baseline="0">
                <a:solidFill>
                  <a:srgbClr val="595959"/>
                </a:solidFill>
              </a:defRPr>
            </a:lvl1pPr>
          </a:lstStyle>
          <a:p>
            <a:r>
              <a:rPr lang="en-US" dirty="0" smtClean="0"/>
              <a:t>Title Palatino 24pt bold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1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598643"/>
            <a:ext cx="8229600" cy="300037"/>
          </a:xfrm>
        </p:spPr>
        <p:txBody>
          <a:bodyPr/>
          <a:lstStyle>
            <a:lvl1pPr>
              <a:buFontTx/>
              <a:buNone/>
              <a:defRPr sz="2000" b="1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 smtClean="0"/>
              <a:t>Subtitle Palatino 20pt bold, italics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6"/>
          <p:cNvSpPr>
            <a:spLocks noGrp="1"/>
          </p:cNvSpPr>
          <p:nvPr>
            <p:ph sz="quarter" idx="14" hasCustomPrompt="1"/>
          </p:nvPr>
        </p:nvSpPr>
        <p:spPr>
          <a:xfrm>
            <a:off x="352425" y="1152524"/>
            <a:ext cx="8439150" cy="5037963"/>
          </a:xfrm>
        </p:spPr>
        <p:txBody>
          <a:bodyPr/>
          <a:lstStyle>
            <a:lvl1pPr>
              <a:spcBef>
                <a:spcPts val="600"/>
              </a:spcBef>
              <a:buClrTx/>
              <a:defRPr sz="1800">
                <a:solidFill>
                  <a:srgbClr val="000000"/>
                </a:solidFill>
                <a:latin typeface="Palatino Linotype" pitchFamily="18" charset="0"/>
              </a:defRPr>
            </a:lvl1pPr>
            <a:lvl2pPr marL="514350" indent="-282575">
              <a:spcBef>
                <a:spcPts val="600"/>
              </a:spcBef>
              <a:buClrTx/>
              <a:defRPr sz="1600">
                <a:solidFill>
                  <a:srgbClr val="000000"/>
                </a:solidFill>
                <a:latin typeface="Palatino Linotype" pitchFamily="18" charset="0"/>
              </a:defRPr>
            </a:lvl2pPr>
            <a:lvl3pPr marL="746125" indent="-231775">
              <a:spcBef>
                <a:spcPts val="600"/>
              </a:spcBef>
              <a:buClrTx/>
              <a:buFont typeface="Palatino Linotype" pitchFamily="18" charset="0"/>
              <a:buChar char="»"/>
              <a:defRPr sz="1400">
                <a:solidFill>
                  <a:srgbClr val="000000"/>
                </a:solidFill>
                <a:latin typeface="Palatino Linotype" pitchFamily="18" charset="0"/>
              </a:defRPr>
            </a:lvl3pPr>
            <a:lvl4pPr marL="1030288" indent="-284163">
              <a:spcBef>
                <a:spcPts val="600"/>
              </a:spcBef>
              <a:buClrTx/>
              <a:defRPr sz="1600">
                <a:solidFill>
                  <a:srgbClr val="000000"/>
                </a:solidFill>
                <a:latin typeface="Palatino Linotype" pitchFamily="18" charset="0"/>
              </a:defRPr>
            </a:lvl4pPr>
            <a:lvl5pPr marL="1260475" indent="-230188">
              <a:spcBef>
                <a:spcPts val="600"/>
              </a:spcBef>
              <a:buClrTx/>
              <a:defRPr sz="1600">
                <a:solidFill>
                  <a:srgbClr val="000000"/>
                </a:solidFill>
                <a:latin typeface="Palatino Linotype" pitchFamily="18" charset="0"/>
              </a:defRPr>
            </a:lvl5pPr>
          </a:lstStyle>
          <a:p>
            <a:pPr lvl="0"/>
            <a:r>
              <a:rPr lang="en-US" dirty="0" smtClean="0"/>
              <a:t>Bulleted text – Palatino 18pt Regular</a:t>
            </a:r>
            <a:br>
              <a:rPr lang="en-US" dirty="0" smtClean="0"/>
            </a:br>
            <a:r>
              <a:rPr lang="en-US" dirty="0" smtClean="0"/>
              <a:t>(Hit Enter then Tab to get to the next bullet level)</a:t>
            </a:r>
          </a:p>
          <a:p>
            <a:pPr lvl="1"/>
            <a:r>
              <a:rPr lang="en-US" dirty="0" smtClean="0"/>
              <a:t>Second level 16pt Regular</a:t>
            </a:r>
          </a:p>
          <a:p>
            <a:pPr lvl="2"/>
            <a:r>
              <a:rPr lang="en-US" dirty="0" smtClean="0"/>
              <a:t>Third level 14pt Regular</a:t>
            </a:r>
          </a:p>
        </p:txBody>
      </p:sp>
      <p:sp>
        <p:nvSpPr>
          <p:cNvPr id="10" name="Slide Number Placeholder 4"/>
          <p:cNvSpPr txBox="1">
            <a:spLocks/>
          </p:cNvSpPr>
          <p:nvPr userDrawn="1"/>
        </p:nvSpPr>
        <p:spPr>
          <a:xfrm>
            <a:off x="8897112" y="6693408"/>
            <a:ext cx="228600" cy="146304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ctr">
              <a:defRPr sz="9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0F801-82B8-4697-8B4B-E3DFE003097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Palatino Linotype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Palatino Linotype" pitchFamily="18" charset="0"/>
              <a:ea typeface="+mn-ea"/>
              <a:cs typeface="+mn-cs"/>
            </a:endParaRPr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32640" y="5973942"/>
            <a:ext cx="4421187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114300" indent="-114300" algn="l">
              <a:spcBef>
                <a:spcPts val="0"/>
              </a:spcBef>
              <a:buFont typeface="+mj-lt"/>
              <a:buAutoNum type="arabicParenR"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Click to add footnote. Numbers appear automatically (no additional space or tab needed). Use a period at the end of each footnote. Stretch the box to the right as needed.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640" y="6293982"/>
            <a:ext cx="3310759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Source: Click to add source. Use a single space after “Source:” and a period at the end of the source. Stretch the box to the left as needed.</a:t>
            </a:r>
            <a:endParaRPr lang="en-US" dirty="0"/>
          </a:p>
        </p:txBody>
      </p:sp>
      <p:sp>
        <p:nvSpPr>
          <p:cNvPr id="9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128837"/>
            <a:ext cx="8229600" cy="778248"/>
          </a:xfrm>
          <a:prstGeom prst="rect">
            <a:avLst/>
          </a:prstGeom>
        </p:spPr>
        <p:txBody>
          <a:bodyPr anchor="b"/>
          <a:lstStyle>
            <a:lvl1pPr>
              <a:defRPr i="0" baseline="0">
                <a:solidFill>
                  <a:srgbClr val="595959"/>
                </a:solidFill>
              </a:defRPr>
            </a:lvl1pPr>
          </a:lstStyle>
          <a:p>
            <a:r>
              <a:rPr lang="en-US" dirty="0" smtClean="0"/>
              <a:t>Title Palatino 24pt bold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2 Columns of Bulle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6"/>
          <p:cNvSpPr>
            <a:spLocks noGrp="1"/>
          </p:cNvSpPr>
          <p:nvPr>
            <p:ph sz="quarter" idx="15" hasCustomPrompt="1"/>
          </p:nvPr>
        </p:nvSpPr>
        <p:spPr>
          <a:xfrm>
            <a:off x="360362" y="1276491"/>
            <a:ext cx="3977640" cy="4846320"/>
          </a:xfrm>
        </p:spPr>
        <p:txBody>
          <a:bodyPr/>
          <a:lstStyle>
            <a:lvl1pPr>
              <a:buClrTx/>
              <a:defRPr sz="1800">
                <a:solidFill>
                  <a:srgbClr val="000000"/>
                </a:solidFill>
              </a:defRPr>
            </a:lvl1pPr>
            <a:lvl2pPr marL="514350" indent="-282575">
              <a:buClrTx/>
              <a:defRPr sz="1600">
                <a:solidFill>
                  <a:srgbClr val="000000"/>
                </a:solidFill>
              </a:defRPr>
            </a:lvl2pPr>
            <a:lvl3pPr marL="746125" indent="-231775">
              <a:buClrTx/>
              <a:buFont typeface="Palatino Linotype" pitchFamily="18" charset="0"/>
              <a:buChar char="»"/>
              <a:defRPr sz="1400">
                <a:solidFill>
                  <a:srgbClr val="000000"/>
                </a:solidFill>
              </a:defRPr>
            </a:lvl3pPr>
            <a:lvl4pPr marL="1030288" indent="-284163">
              <a:buClrTx/>
              <a:defRPr sz="1600"/>
            </a:lvl4pPr>
            <a:lvl5pPr marL="1260475" indent="-230188">
              <a:buClrTx/>
              <a:defRPr sz="1600"/>
            </a:lvl5pPr>
          </a:lstStyle>
          <a:p>
            <a:pPr lvl="0"/>
            <a:r>
              <a:rPr lang="en-US" dirty="0" smtClean="0"/>
              <a:t>Bulleted text – Palatino 18pt </a:t>
            </a:r>
            <a:br>
              <a:rPr lang="en-US" dirty="0" smtClean="0"/>
            </a:br>
            <a:r>
              <a:rPr lang="en-US" dirty="0" smtClean="0"/>
              <a:t>(Hit Enter then Tab to get to the next bullet level)</a:t>
            </a:r>
          </a:p>
          <a:p>
            <a:pPr lvl="1"/>
            <a:r>
              <a:rPr lang="en-US" dirty="0" smtClean="0"/>
              <a:t>Second level - Palatino 16pt Regular</a:t>
            </a:r>
          </a:p>
          <a:p>
            <a:pPr lvl="2"/>
            <a:r>
              <a:rPr lang="en-US" dirty="0" smtClean="0"/>
              <a:t>Third level – Palatino 14pt Regular</a:t>
            </a:r>
          </a:p>
        </p:txBody>
      </p:sp>
      <p:sp>
        <p:nvSpPr>
          <p:cNvPr id="10" name="Content Placeholder 6"/>
          <p:cNvSpPr>
            <a:spLocks noGrp="1"/>
          </p:cNvSpPr>
          <p:nvPr>
            <p:ph sz="quarter" idx="16" hasCustomPrompt="1"/>
          </p:nvPr>
        </p:nvSpPr>
        <p:spPr>
          <a:xfrm>
            <a:off x="4804982" y="1276491"/>
            <a:ext cx="3977640" cy="4846320"/>
          </a:xfrm>
        </p:spPr>
        <p:txBody>
          <a:bodyPr/>
          <a:lstStyle>
            <a:lvl1pPr>
              <a:buClrTx/>
              <a:defRPr sz="1800">
                <a:solidFill>
                  <a:srgbClr val="000000"/>
                </a:solidFill>
              </a:defRPr>
            </a:lvl1pPr>
            <a:lvl2pPr marL="514350" indent="-282575">
              <a:buClrTx/>
              <a:defRPr sz="1600">
                <a:solidFill>
                  <a:srgbClr val="000000"/>
                </a:solidFill>
              </a:defRPr>
            </a:lvl2pPr>
            <a:lvl3pPr marL="746125" indent="-231775">
              <a:buClrTx/>
              <a:buFont typeface="Palatino Linotype" pitchFamily="18" charset="0"/>
              <a:buChar char="»"/>
              <a:defRPr sz="1400">
                <a:solidFill>
                  <a:srgbClr val="000000"/>
                </a:solidFill>
              </a:defRPr>
            </a:lvl3pPr>
            <a:lvl4pPr marL="1030288" indent="-284163">
              <a:buClrTx/>
              <a:defRPr sz="1600"/>
            </a:lvl4pPr>
            <a:lvl5pPr marL="1260475" indent="-230188">
              <a:buClrTx/>
              <a:defRPr sz="1600"/>
            </a:lvl5pPr>
          </a:lstStyle>
          <a:p>
            <a:pPr lvl="0"/>
            <a:r>
              <a:rPr lang="en-US" dirty="0" smtClean="0"/>
              <a:t>Bulleted text – Palatino 18pt </a:t>
            </a:r>
            <a:br>
              <a:rPr lang="en-US" dirty="0" smtClean="0"/>
            </a:br>
            <a:r>
              <a:rPr lang="en-US" dirty="0" smtClean="0"/>
              <a:t>(Hit Enter then Tab to get to the next bullet level)</a:t>
            </a:r>
          </a:p>
          <a:p>
            <a:pPr lvl="1"/>
            <a:r>
              <a:rPr lang="en-US" dirty="0" smtClean="0"/>
              <a:t>Second level -Palatino 16pt Regular</a:t>
            </a:r>
          </a:p>
          <a:p>
            <a:pPr lvl="2"/>
            <a:r>
              <a:rPr lang="en-US" dirty="0" smtClean="0"/>
              <a:t>Third level – Palatino 14pt Regular</a:t>
            </a:r>
          </a:p>
        </p:txBody>
      </p:sp>
      <p:sp>
        <p:nvSpPr>
          <p:cNvPr id="12" name="Slide Number Placeholder 4"/>
          <p:cNvSpPr txBox="1">
            <a:spLocks/>
          </p:cNvSpPr>
          <p:nvPr userDrawn="1"/>
        </p:nvSpPr>
        <p:spPr>
          <a:xfrm>
            <a:off x="8897112" y="6693408"/>
            <a:ext cx="228600" cy="146304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ctr">
              <a:defRPr sz="9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E0F801-82B8-4697-8B4B-E3DFE003097F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Palatino Linotype" pitchFamily="18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Palatino Linotype" pitchFamily="18" charset="0"/>
              <a:ea typeface="+mn-ea"/>
              <a:cs typeface="+mn-cs"/>
            </a:endParaRPr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21" hasCustomPrompt="1"/>
          </p:nvPr>
        </p:nvSpPr>
        <p:spPr bwMode="gray">
          <a:xfrm>
            <a:off x="432640" y="5973942"/>
            <a:ext cx="4421187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114300" indent="-114300" algn="l">
              <a:spcBef>
                <a:spcPts val="0"/>
              </a:spcBef>
              <a:buFont typeface="+mj-lt"/>
              <a:buAutoNum type="arabicParenR"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Click to add footnote. Numbers appear automatically (no additional space or tab needed). Use a period at the end of each footnote. Stretch the box to the right as needed.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7" hasCustomPrompt="1"/>
          </p:nvPr>
        </p:nvSpPr>
        <p:spPr bwMode="gray">
          <a:xfrm>
            <a:off x="432640" y="6293982"/>
            <a:ext cx="3310759" cy="320040"/>
          </a:xfrm>
          <a:prstGeom prst="rect">
            <a:avLst/>
          </a:prstGeom>
        </p:spPr>
        <p:txBody>
          <a:bodyPr lIns="45720" tIns="45720" rIns="4572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800" baseline="0">
                <a:latin typeface="Palatino Linotype" pitchFamily="18" charset="0"/>
              </a:defRPr>
            </a:lvl1pPr>
            <a:lvl2pPr algn="l">
              <a:buNone/>
              <a:defRPr sz="600"/>
            </a:lvl2pPr>
            <a:lvl3pPr algn="l">
              <a:buNone/>
              <a:defRPr sz="600"/>
            </a:lvl3pPr>
            <a:lvl4pPr algn="l">
              <a:buNone/>
              <a:defRPr sz="600"/>
            </a:lvl4pPr>
            <a:lvl5pPr algn="l">
              <a:buNone/>
              <a:defRPr sz="600"/>
            </a:lvl5pPr>
          </a:lstStyle>
          <a:p>
            <a:pPr lvl="0"/>
            <a:r>
              <a:rPr lang="en-US" dirty="0" smtClean="0"/>
              <a:t>Source: Click to add source. Use a single space after “Source:” and a period at the end of the source. Stretch the box to the left as needed.</a:t>
            </a:r>
            <a:endParaRPr lang="en-US" dirty="0"/>
          </a:p>
        </p:txBody>
      </p:sp>
      <p:sp>
        <p:nvSpPr>
          <p:cNvPr id="11" name="Title 10"/>
          <p:cNvSpPr>
            <a:spLocks noGrp="1"/>
          </p:cNvSpPr>
          <p:nvPr>
            <p:ph type="title" hasCustomPrompt="1"/>
          </p:nvPr>
        </p:nvSpPr>
        <p:spPr>
          <a:xfrm>
            <a:off x="457200" y="128837"/>
            <a:ext cx="8229600" cy="466341"/>
          </a:xfrm>
          <a:prstGeom prst="rect">
            <a:avLst/>
          </a:prstGeom>
        </p:spPr>
        <p:txBody>
          <a:bodyPr/>
          <a:lstStyle>
            <a:lvl1pPr>
              <a:defRPr i="0" baseline="0">
                <a:solidFill>
                  <a:srgbClr val="595959"/>
                </a:solidFill>
              </a:defRPr>
            </a:lvl1pPr>
          </a:lstStyle>
          <a:p>
            <a:r>
              <a:rPr lang="en-US" dirty="0" smtClean="0"/>
              <a:t>Title Palatino 24pt bold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457200" y="598643"/>
            <a:ext cx="8229600" cy="300037"/>
          </a:xfrm>
        </p:spPr>
        <p:txBody>
          <a:bodyPr/>
          <a:lstStyle>
            <a:lvl1pPr>
              <a:buFontTx/>
              <a:buNone/>
              <a:defRPr sz="2000" b="1" i="1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en-US" dirty="0" smtClean="0"/>
              <a:t>Subtitle Palatino 20pt bold, italics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60363" y="1123951"/>
            <a:ext cx="8416976" cy="5262562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lvl="0"/>
            <a:r>
              <a:rPr lang="en-US" dirty="0" smtClean="0"/>
              <a:t>Bulleted text – Palatino 18pt Regular</a:t>
            </a:r>
            <a:br>
              <a:rPr lang="en-US" dirty="0" smtClean="0"/>
            </a:br>
            <a:r>
              <a:rPr lang="en-US" dirty="0" smtClean="0"/>
              <a:t>Five bullet levels are built in (hit Enter then Tab to get to the next bullet level)</a:t>
            </a:r>
          </a:p>
          <a:p>
            <a:pPr lvl="1"/>
            <a:r>
              <a:rPr lang="en-US" dirty="0" smtClean="0"/>
              <a:t>Second level 16pt Regular</a:t>
            </a:r>
          </a:p>
          <a:p>
            <a:pPr lvl="2"/>
            <a:r>
              <a:rPr lang="en-US" dirty="0" smtClean="0"/>
              <a:t>Third level 14pt Regular</a:t>
            </a:r>
          </a:p>
        </p:txBody>
      </p:sp>
      <p:sp>
        <p:nvSpPr>
          <p:cNvPr id="17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8897112" y="6693408"/>
            <a:ext cx="228600" cy="146304"/>
          </a:xfrm>
          <a:prstGeom prst="rect">
            <a:avLst/>
          </a:prstGeom>
        </p:spPr>
        <p:txBody>
          <a:bodyPr lIns="0" tIns="0" rIns="0" bIns="0" anchor="ctr" anchorCtr="1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</a:defRPr>
            </a:lvl1pPr>
          </a:lstStyle>
          <a:p>
            <a:fld id="{8FE0F801-82B8-4697-8B4B-E3DFE003097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5" name="Picture 14" descr="PartnersAlternate_4.15_colo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38769" y="6519893"/>
            <a:ext cx="731522" cy="281636"/>
          </a:xfrm>
          <a:prstGeom prst="rect">
            <a:avLst/>
          </a:prstGeom>
        </p:spPr>
      </p:pic>
      <p:sp>
        <p:nvSpPr>
          <p:cNvPr id="12" name="Line 5"/>
          <p:cNvSpPr>
            <a:spLocks noChangeShapeType="1"/>
          </p:cNvSpPr>
          <p:nvPr/>
        </p:nvSpPr>
        <p:spPr bwMode="auto">
          <a:xfrm>
            <a:off x="0" y="1013765"/>
            <a:ext cx="9144000" cy="0"/>
          </a:xfrm>
          <a:prstGeom prst="line">
            <a:avLst/>
          </a:prstGeom>
          <a:noFill/>
          <a:ln w="19050">
            <a:solidFill>
              <a:srgbClr val="008AB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14" name="Line 6"/>
          <p:cNvSpPr>
            <a:spLocks noChangeShapeType="1"/>
          </p:cNvSpPr>
          <p:nvPr/>
        </p:nvSpPr>
        <p:spPr bwMode="auto">
          <a:xfrm>
            <a:off x="0" y="975043"/>
            <a:ext cx="9144000" cy="0"/>
          </a:xfrm>
          <a:prstGeom prst="line">
            <a:avLst/>
          </a:prstGeom>
          <a:noFill/>
          <a:ln w="19050">
            <a:solidFill>
              <a:srgbClr val="004960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 dirty="0">
              <a:latin typeface="Arial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53886" y="6642556"/>
            <a:ext cx="21066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  <a:cs typeface="Times New Roman" pitchFamily="18" charset="0"/>
              </a:rPr>
              <a:t>Department Name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Palatino Linotype" pitchFamily="18" charset="0"/>
              <a:cs typeface="Times New Roman" pitchFamily="18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3581994" y="6642556"/>
            <a:ext cx="210668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  <a:cs typeface="Times New Roman" pitchFamily="18" charset="0"/>
              </a:rPr>
              <a:t>Confidential</a:t>
            </a:r>
            <a:r>
              <a:rPr lang="en-US" sz="8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alatino Linotype" pitchFamily="18" charset="0"/>
                <a:cs typeface="Times New Roman" pitchFamily="18" charset="0"/>
              </a:rPr>
              <a:t> – do not copy or distribute</a:t>
            </a:r>
            <a:endParaRPr lang="en-US" sz="800" dirty="0">
              <a:solidFill>
                <a:schemeClr val="tx1">
                  <a:lumMod val="65000"/>
                  <a:lumOff val="35000"/>
                </a:schemeClr>
              </a:solidFill>
              <a:latin typeface="Palatino Linotype" pitchFamily="18" charset="0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701" r:id="rId2"/>
    <p:sldLayoutId id="2147483709" r:id="rId3"/>
    <p:sldLayoutId id="2147483710" r:id="rId4"/>
    <p:sldLayoutId id="2147483712" r:id="rId5"/>
    <p:sldLayoutId id="2147483711" r:id="rId6"/>
    <p:sldLayoutId id="2147483700" r:id="rId7"/>
    <p:sldLayoutId id="2147483699" r:id="rId8"/>
  </p:sldLayoutIdLst>
  <p:hf hdr="0" dt="0"/>
  <p:txStyles>
    <p:titleStyle>
      <a:lvl1pPr algn="l" rtl="0" eaLnBrk="1" latinLnBrk="0" hangingPunct="1">
        <a:lnSpc>
          <a:spcPct val="100000"/>
        </a:lnSpc>
        <a:spcBef>
          <a:spcPct val="0"/>
        </a:spcBef>
        <a:buNone/>
        <a:defRPr kumimoji="0" sz="2400" b="1" kern="1200">
          <a:solidFill>
            <a:schemeClr val="tx1">
              <a:lumMod val="75000"/>
              <a:lumOff val="25000"/>
            </a:schemeClr>
          </a:solidFill>
          <a:latin typeface="Palatino Linotype" pitchFamily="18" charset="0"/>
          <a:ea typeface="+mj-ea"/>
          <a:cs typeface="+mj-cs"/>
        </a:defRPr>
      </a:lvl1pPr>
    </p:titleStyle>
    <p:bodyStyle>
      <a:lvl1pPr marL="231775" indent="-231775" algn="l" rtl="0" eaLnBrk="1" latinLnBrk="0" hangingPunct="1">
        <a:spcBef>
          <a:spcPts val="600"/>
        </a:spcBef>
        <a:buClrTx/>
        <a:buSzPct val="100000"/>
        <a:buFont typeface="Arial" pitchFamily="34" charset="0"/>
        <a:buChar char="•"/>
        <a:defRPr kumimoji="0" sz="18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1pPr>
      <a:lvl2pPr marL="628650" indent="-282575" algn="l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kumimoji="0" sz="16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2pPr>
      <a:lvl3pPr marL="973138" indent="-227013" algn="l" rtl="0" eaLnBrk="1" latinLnBrk="0" hangingPunct="1">
        <a:spcBef>
          <a:spcPts val="600"/>
        </a:spcBef>
        <a:buClrTx/>
        <a:buSzPct val="100000"/>
        <a:buFont typeface="Palatino Linotype" pitchFamily="18" charset="0"/>
        <a:buChar char="»"/>
        <a:defRPr kumimoji="0" sz="14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3pPr>
      <a:lvl4pPr marL="1374775" indent="-292100" algn="l" rtl="0" eaLnBrk="1" latinLnBrk="0" hangingPunct="1">
        <a:spcBef>
          <a:spcPts val="600"/>
        </a:spcBef>
        <a:buClrTx/>
        <a:buSzPct val="100000"/>
        <a:buFont typeface="Arial" pitchFamily="34" charset="0"/>
        <a:buChar char="–"/>
        <a:defRPr kumimoji="0" sz="16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4pPr>
      <a:lvl5pPr marL="1711325" indent="-227013" algn="l" rtl="0" eaLnBrk="1" latinLnBrk="0" hangingPunct="1">
        <a:spcBef>
          <a:spcPts val="600"/>
        </a:spcBef>
        <a:buClrTx/>
        <a:buSzPct val="100000"/>
        <a:buFont typeface="Arial" pitchFamily="34" charset="0"/>
        <a:buChar char="•"/>
        <a:defRPr kumimoji="0" sz="1600" kern="1200">
          <a:solidFill>
            <a:schemeClr val="tx1"/>
          </a:solidFill>
          <a:latin typeface="Palatino Linotype" pitchFamily="18" charset="0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doc.gitlab.com/ce/ci/quick_start/README.html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partners.org/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jpeg"/><Relationship Id="rId4" Type="http://schemas.openxmlformats.org/officeDocument/2006/relationships/hyperlink" Target="mailto:rcc@partners.org" TargetMode="Externa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lab.partners.org/" TargetMode="External"/><Relationship Id="rId7" Type="http://schemas.openxmlformats.org/officeDocument/2006/relationships/hyperlink" Target="http://ericsink.com/vcbe/vcbe_a4_lo.pdf" TargetMode="External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.xml"/><Relationship Id="rId6" Type="http://schemas.openxmlformats.org/officeDocument/2006/relationships/hyperlink" Target="http://codicesoftware.blogspot.com/2010/11/version-control-timeline.html" TargetMode="External"/><Relationship Id="rId5" Type="http://schemas.openxmlformats.org/officeDocument/2006/relationships/hyperlink" Target="https://about.gitlab.com/gitlab-ce-features/" TargetMode="External"/><Relationship Id="rId4" Type="http://schemas.openxmlformats.org/officeDocument/2006/relationships/hyperlink" Target="http://doc.gitlab.com/ce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Managing projects and source code with </a:t>
            </a:r>
            <a:r>
              <a:rPr lang="en-US" dirty="0" err="1" smtClean="0"/>
              <a:t>GitLab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Web-based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Git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t> repository manager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lvl="0">
              <a:spcBef>
                <a:spcPts val="0"/>
              </a:spcBef>
            </a:pPr>
            <a:r>
              <a:rPr lang="en-US" dirty="0" smtClean="0"/>
              <a:t>Presented by Dimitar Dimitrov</a:t>
            </a:r>
          </a:p>
          <a:p>
            <a:pPr lvl="0">
              <a:spcBef>
                <a:spcPts val="0"/>
              </a:spcBef>
            </a:pPr>
            <a:r>
              <a:rPr lang="en-US" dirty="0" smtClean="0"/>
              <a:t>May 5, 2016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History and Objectives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lvl="0" indent="0"/>
            <a:r>
              <a:rPr lang="en-US" sz="2000" b="1" i="1" dirty="0" smtClean="0"/>
              <a:t>Source Control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What is source control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Who / Why needs it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How did it evolve 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Where are we now</a:t>
            </a:r>
          </a:p>
          <a:p>
            <a:pPr marL="285750" lvl="0" indent="-285750">
              <a:buFontTx/>
              <a:buChar char="-"/>
            </a:pPr>
            <a:endParaRPr lang="en-US" dirty="0" smtClean="0"/>
          </a:p>
          <a:p>
            <a:pPr marL="285750" lvl="0" indent="-285750">
              <a:buFontTx/>
              <a:buChar char="-"/>
            </a:pPr>
            <a:endParaRPr lang="en-US" dirty="0" smtClean="0"/>
          </a:p>
          <a:p>
            <a:pPr marL="0" lvl="0" indent="0"/>
            <a:r>
              <a:rPr lang="en-US" sz="2000" b="1" i="1" u="sng" dirty="0" err="1" smtClean="0"/>
              <a:t>Git</a:t>
            </a:r>
            <a:endParaRPr lang="en-US" sz="2000" b="1" i="1" u="sng" dirty="0" smtClean="0"/>
          </a:p>
          <a:p>
            <a:pPr marL="285750" lvl="0" indent="-285750">
              <a:buFontTx/>
              <a:buChar char="-"/>
            </a:pPr>
            <a:r>
              <a:rPr lang="en-US" dirty="0" smtClean="0"/>
              <a:t>What is </a:t>
            </a:r>
            <a:r>
              <a:rPr lang="en-US" dirty="0" err="1" smtClean="0"/>
              <a:t>Git</a:t>
            </a:r>
            <a:endParaRPr lang="en-US" dirty="0" smtClean="0"/>
          </a:p>
          <a:p>
            <a:pPr marL="285750" lvl="0" indent="-285750">
              <a:buFontTx/>
              <a:buChar char="-"/>
            </a:pPr>
            <a:r>
              <a:rPr lang="en-US" dirty="0" smtClean="0"/>
              <a:t>Why is everyone using it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What can </a:t>
            </a:r>
            <a:r>
              <a:rPr lang="en-US" dirty="0" err="1" smtClean="0"/>
              <a:t>Git</a:t>
            </a:r>
            <a:r>
              <a:rPr lang="en-US" dirty="0" smtClean="0"/>
              <a:t> do for you</a:t>
            </a:r>
          </a:p>
          <a:p>
            <a:pPr marL="285750" lvl="0" indent="-285750">
              <a:buFontTx/>
              <a:buChar char="-"/>
            </a:pPr>
            <a:endParaRPr lang="en-US" dirty="0"/>
          </a:p>
          <a:p>
            <a:pPr marL="0" lvl="0" indent="0"/>
            <a:r>
              <a:rPr lang="en-US" sz="2000" b="1" i="1" u="sng" dirty="0" err="1" smtClean="0"/>
              <a:t>GitLab</a:t>
            </a:r>
            <a:endParaRPr lang="en-US" dirty="0"/>
          </a:p>
          <a:p>
            <a:pPr marL="285750" lvl="0" indent="-285750">
              <a:buFontTx/>
              <a:buChar char="-"/>
            </a:pPr>
            <a:r>
              <a:rPr lang="en-US" dirty="0" smtClean="0"/>
              <a:t>What is </a:t>
            </a:r>
            <a:r>
              <a:rPr lang="en-US" dirty="0" err="1" smtClean="0"/>
              <a:t>GitLab</a:t>
            </a:r>
            <a:endParaRPr lang="en-US" dirty="0" smtClean="0"/>
          </a:p>
          <a:p>
            <a:pPr marL="285750" lvl="0" indent="-285750">
              <a:buFontTx/>
              <a:buChar char="-"/>
            </a:pPr>
            <a:r>
              <a:rPr lang="en-US" dirty="0" smtClean="0"/>
              <a:t>Why </a:t>
            </a:r>
            <a:r>
              <a:rPr lang="en-US" dirty="0" err="1" smtClean="0"/>
              <a:t>GitLab</a:t>
            </a:r>
            <a:r>
              <a:rPr lang="en-US" dirty="0" smtClean="0"/>
              <a:t> (as opposed to…)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Who has access to </a:t>
            </a:r>
            <a:r>
              <a:rPr lang="en-US" dirty="0" err="1" smtClean="0"/>
              <a:t>GitLab</a:t>
            </a:r>
            <a:endParaRPr lang="en-US" dirty="0" smtClean="0"/>
          </a:p>
          <a:p>
            <a:pPr marL="285750" lvl="0" indent="-285750">
              <a:buFontTx/>
              <a:buChar char="-"/>
            </a:pPr>
            <a:r>
              <a:rPr lang="en-US" dirty="0" smtClean="0"/>
              <a:t>What are the key features </a:t>
            </a:r>
          </a:p>
          <a:p>
            <a:pPr marL="285750" lvl="0" indent="-285750">
              <a:buFontTx/>
              <a:buChar char="-"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pic>
        <p:nvPicPr>
          <p:cNvPr id="3074" name="Picture 2" descr="https://git-scm.com/images/branching-illustration@2x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77101">
            <a:off x="4077175" y="1730067"/>
            <a:ext cx="5509466" cy="3552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893462" y="2668772"/>
            <a:ext cx="7377749" cy="4008475"/>
          </a:xfrm>
        </p:spPr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is an Open Source </a:t>
            </a:r>
            <a:r>
              <a:rPr lang="en-US" dirty="0" err="1" smtClean="0"/>
              <a:t>Git</a:t>
            </a:r>
            <a:r>
              <a:rPr lang="en-US" dirty="0" smtClean="0"/>
              <a:t> Repository Management</a:t>
            </a:r>
          </a:p>
          <a:p>
            <a:r>
              <a:rPr lang="en-US" dirty="0" smtClean="0"/>
              <a:t>It’s offered in two flavors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GitLab</a:t>
            </a:r>
            <a:r>
              <a:rPr lang="en-US" dirty="0" smtClean="0"/>
              <a:t> CE (Community Edition)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GitLab</a:t>
            </a:r>
            <a:r>
              <a:rPr lang="en-US" dirty="0" smtClean="0"/>
              <a:t> EE (Enterprise Edition)</a:t>
            </a:r>
          </a:p>
          <a:p>
            <a:r>
              <a:rPr lang="en-US" dirty="0" smtClean="0"/>
              <a:t>Key Features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User / Group / Team Management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Project Wiki / Activity Stream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Issues tracking / File Browser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Tasks / </a:t>
            </a:r>
            <a:r>
              <a:rPr lang="en-US" dirty="0" err="1" smtClean="0"/>
              <a:t>ToDos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smtClean="0"/>
              <a:t>Merge / Fork / Commit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Integration with other systems (GitHub, Jira)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 smtClean="0"/>
              <a:t>Continuous Integration (CI)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Support for </a:t>
            </a:r>
            <a:r>
              <a:rPr lang="en-US" dirty="0" err="1" smtClean="0"/>
              <a:t>Git</a:t>
            </a:r>
            <a:r>
              <a:rPr lang="en-US" dirty="0" smtClean="0"/>
              <a:t> LFS (large files)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Web Hooks (events for when something is happening with your project)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at-a-glance</a:t>
            </a:r>
            <a:endParaRPr lang="en-US" dirty="0"/>
          </a:p>
        </p:txBody>
      </p:sp>
      <p:pic>
        <p:nvPicPr>
          <p:cNvPr id="5" name="Picture 2" descr="http://i1.wp.com/blog.jennylian.com/wp-content/uploads/2014/10/brand_logo-c37eb221b456bb4b472cc1084480991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557" y="63066"/>
            <a:ext cx="2502381" cy="1608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915" y="47967"/>
            <a:ext cx="1721551" cy="172155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0767" y="160338"/>
            <a:ext cx="1530444" cy="1414130"/>
          </a:xfrm>
          <a:prstGeom prst="rect">
            <a:avLst/>
          </a:prstGeom>
        </p:spPr>
      </p:pic>
      <p:sp>
        <p:nvSpPr>
          <p:cNvPr id="8" name="AutoShape 2" descr="Image result for git-scm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4" descr="Image result for git-scm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6" descr="https://www.scm-manager.com/wp-content/uploads/2013/04/git-logo.png"/>
          <p:cNvSpPr>
            <a:spLocks noChangeAspect="1" noChangeArrowheads="1"/>
          </p:cNvSpPr>
          <p:nvPr/>
        </p:nvSpPr>
        <p:spPr bwMode="auto">
          <a:xfrm>
            <a:off x="155575" y="-1828800"/>
            <a:ext cx="381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6" name="Picture 8" descr="http://aln787.github.io/gh-collab-for-designers/images/gitLogo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934" y="439645"/>
            <a:ext cx="907681" cy="855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Source Control (aka Version Control)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pPr marL="0" lvl="0" indent="0"/>
            <a:r>
              <a:rPr lang="en-US" dirty="0" smtClean="0"/>
              <a:t>Source Control / Version Control / Revision Control is the process of managing changes to documents, programs, and other collections of files and information in a logical, consistent, and traceable way</a:t>
            </a:r>
            <a:r>
              <a:rPr lang="en-US" dirty="0" smtClean="0"/>
              <a:t>.</a:t>
            </a:r>
          </a:p>
          <a:p>
            <a:pPr marL="0" lvl="0" indent="0"/>
            <a:r>
              <a:rPr lang="en-US" dirty="0" smtClean="0"/>
              <a:t>Version Control systems have existed in one form or another for over 40 years.</a:t>
            </a:r>
          </a:p>
          <a:p>
            <a:pPr marL="0" lvl="0" indent="0"/>
            <a:r>
              <a:rPr lang="en-US" dirty="0" smtClean="0"/>
              <a:t>Throughout their history they have been improving – from manual towards automated and from individual to centralized.</a:t>
            </a:r>
          </a:p>
          <a:p>
            <a:pPr marL="0" lvl="0" indent="0" algn="ctr"/>
            <a:r>
              <a:rPr lang="en-US" u="sng" dirty="0" smtClean="0"/>
              <a:t>Prehistory</a:t>
            </a:r>
          </a:p>
          <a:p>
            <a:pPr marL="0" lvl="0" indent="0"/>
            <a:r>
              <a:rPr lang="en-US" dirty="0" smtClean="0"/>
              <a:t>One person working on one file; somewhat manual; limited to the type and complexity of the changes that were made; file locks; local</a:t>
            </a:r>
            <a:endParaRPr lang="en-US" dirty="0" smtClean="0"/>
          </a:p>
          <a:p>
            <a:pPr marL="0" lvl="0" indent="0" algn="ctr"/>
            <a:r>
              <a:rPr lang="en-US" u="sng" dirty="0" smtClean="0"/>
              <a:t>Classic</a:t>
            </a:r>
          </a:p>
          <a:p>
            <a:pPr marL="0" lvl="0" indent="0"/>
            <a:r>
              <a:rPr lang="en-US" dirty="0" smtClean="0"/>
              <a:t>Beginning to handle multiple file changes on multiple systems; merges must happen before you can commit; server-based</a:t>
            </a:r>
            <a:endParaRPr lang="en-US" dirty="0" smtClean="0"/>
          </a:p>
          <a:p>
            <a:pPr marL="0" lvl="0" indent="0" algn="ctr"/>
            <a:r>
              <a:rPr lang="en-US" u="sng" dirty="0" smtClean="0"/>
              <a:t>Middle Ages</a:t>
            </a:r>
          </a:p>
          <a:p>
            <a:pPr marL="0" lvl="0" indent="0"/>
            <a:r>
              <a:rPr lang="en-US" dirty="0" smtClean="0"/>
              <a:t>Enhancements on the Classics; still aversion to branching and merging; better administrations and permissions control</a:t>
            </a:r>
            <a:endParaRPr lang="en-US" dirty="0" smtClean="0"/>
          </a:p>
          <a:p>
            <a:pPr marL="0" lvl="0" indent="0" algn="ctr"/>
            <a:r>
              <a:rPr lang="en-US" u="sng" dirty="0" smtClean="0"/>
              <a:t>Modern times</a:t>
            </a:r>
          </a:p>
          <a:p>
            <a:pPr marL="0" lvl="0" indent="0"/>
            <a:r>
              <a:rPr lang="en-US" dirty="0" smtClean="0"/>
              <a:t>Allow merge and commits to be separated; distributed; embrace merging and branching</a:t>
            </a: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733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Evolution of Source Control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8042"/>
            <a:ext cx="9144000" cy="4501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37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Control Systems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4"/>
            <a:ext cx="8439912" cy="5038344"/>
          </a:xfrm>
        </p:spPr>
        <p:txBody>
          <a:bodyPr/>
          <a:lstStyle/>
          <a:p>
            <a:pPr marL="0" lvl="0" indent="0"/>
            <a:r>
              <a:rPr lang="en-US" u="sng" dirty="0" smtClean="0"/>
              <a:t>RCS</a:t>
            </a:r>
            <a:r>
              <a:rPr lang="en-US" dirty="0" smtClean="0"/>
              <a:t> – </a:t>
            </a:r>
            <a:r>
              <a:rPr lang="en-US" u="sng" dirty="0" smtClean="0"/>
              <a:t>Revision Control System</a:t>
            </a:r>
            <a:r>
              <a:rPr lang="en-US" dirty="0" smtClean="0"/>
              <a:t> – allows for changes to be saved as delta-increments in a text file. Usually in the same folder and with basically the same file name (+,v)</a:t>
            </a:r>
          </a:p>
          <a:p>
            <a:pPr marL="0" lvl="0" indent="0"/>
            <a:r>
              <a:rPr lang="en-US" u="sng" dirty="0" smtClean="0"/>
              <a:t>CVS</a:t>
            </a:r>
            <a:r>
              <a:rPr lang="en-US" dirty="0" smtClean="0"/>
              <a:t> – </a:t>
            </a:r>
            <a:r>
              <a:rPr lang="en-US" u="sng" dirty="0" smtClean="0"/>
              <a:t>Concurrent Versions System</a:t>
            </a:r>
            <a:r>
              <a:rPr lang="en-US" dirty="0" smtClean="0"/>
              <a:t> – client-server oriented. It allowed multiple people to develop from multiple systems. Resolving conflicts was difficult.</a:t>
            </a:r>
          </a:p>
          <a:p>
            <a:pPr marL="0" lvl="0" indent="0"/>
            <a:r>
              <a:rPr lang="en-US" u="sng" dirty="0" smtClean="0"/>
              <a:t>VSS</a:t>
            </a:r>
            <a:r>
              <a:rPr lang="en-US" dirty="0" smtClean="0"/>
              <a:t> – </a:t>
            </a:r>
            <a:r>
              <a:rPr lang="en-US" u="sng" dirty="0" smtClean="0"/>
              <a:t>Visual SourceSafe</a:t>
            </a:r>
            <a:r>
              <a:rPr lang="en-US" dirty="0" smtClean="0"/>
              <a:t> – Microsoft’s attempt at version control. Aimed at small projects, relying on locking and generally discouraging collaboration</a:t>
            </a:r>
          </a:p>
          <a:p>
            <a:pPr marL="0" lvl="0" indent="0"/>
            <a:r>
              <a:rPr lang="en-US" u="sng" dirty="0" smtClean="0"/>
              <a:t>(Rational) </a:t>
            </a:r>
            <a:r>
              <a:rPr lang="en-US" u="sng" dirty="0" err="1" smtClean="0"/>
              <a:t>ClearCase</a:t>
            </a:r>
            <a:r>
              <a:rPr lang="en-US" dirty="0" smtClean="0"/>
              <a:t> – proprietary software, used primarily in the corporate world. Heavy network use (meant for LANs)</a:t>
            </a:r>
          </a:p>
          <a:p>
            <a:pPr marL="0" lvl="0" indent="0"/>
            <a:r>
              <a:rPr lang="en-US" u="sng" dirty="0" smtClean="0"/>
              <a:t>SVN</a:t>
            </a:r>
            <a:r>
              <a:rPr lang="en-US" dirty="0" smtClean="0"/>
              <a:t> – </a:t>
            </a:r>
            <a:r>
              <a:rPr lang="en-US" u="sng" dirty="0" smtClean="0"/>
              <a:t>(Apache) Subversion</a:t>
            </a:r>
            <a:r>
              <a:rPr lang="en-US" dirty="0" smtClean="0"/>
              <a:t> – Enhanced CVS. Still not fully embracing branching and merging. Flexible, but not quite there yet.</a:t>
            </a:r>
          </a:p>
          <a:p>
            <a:pPr marL="0" lvl="0" indent="0"/>
            <a:r>
              <a:rPr lang="en-US" u="sng" dirty="0" smtClean="0"/>
              <a:t>Mercurial (Hg)</a:t>
            </a:r>
            <a:r>
              <a:rPr lang="en-US" dirty="0" smtClean="0"/>
              <a:t> – more scalable, faster, fully-distributed solution. Much better handling of text and non-text files. Keeps a running list (</a:t>
            </a:r>
            <a:r>
              <a:rPr lang="en-US" dirty="0" err="1" smtClean="0"/>
              <a:t>revlog</a:t>
            </a:r>
            <a:r>
              <a:rPr lang="en-US" dirty="0" smtClean="0"/>
              <a:t>) of the changes to files and folders. Generally creates new branches as their own separate repositories</a:t>
            </a:r>
          </a:p>
          <a:p>
            <a:pPr marL="0" lvl="0" indent="0"/>
            <a:r>
              <a:rPr lang="en-US" u="sng" dirty="0" err="1" smtClean="0"/>
              <a:t>Git</a:t>
            </a:r>
            <a:r>
              <a:rPr lang="en-US" dirty="0" smtClean="0"/>
              <a:t> – focus on distributed, non-linear development. Fast and simple. Commits are done to a local repo and then pushed/merged to the central one. </a:t>
            </a:r>
            <a:r>
              <a:rPr lang="en-US" dirty="0" smtClean="0"/>
              <a:t>Large files are a small drawback.</a:t>
            </a:r>
            <a:endParaRPr lang="en-US" u="sng" dirty="0" smtClean="0"/>
          </a:p>
        </p:txBody>
      </p:sp>
    </p:spTree>
    <p:extLst>
      <p:ext uri="{BB962C8B-B14F-4D97-AF65-F5344CB8AC3E}">
        <p14:creationId xmlns:p14="http://schemas.microsoft.com/office/powerpoint/2010/main" val="211318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Source Control Operations (the lingo)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There are 18 basic operations that can be done with/by source control systems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Create (the repository)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Checkout (the repository)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Commit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Update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Add (a file)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Edit (a file)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Delete (a file)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Rename (a file)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Move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Status (of the repository)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Diff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Revert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Log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Tag (name a version of the repo)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Branch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Merge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Resolve (conflicts)</a:t>
            </a:r>
          </a:p>
          <a:p>
            <a:pPr marL="342900" lvl="0" indent="-342900">
              <a:buAutoNum type="arabicPeriod"/>
            </a:pPr>
            <a:r>
              <a:rPr lang="en-US" dirty="0" smtClean="0"/>
              <a:t>Lock</a:t>
            </a:r>
            <a:endParaRPr lang="en-US" dirty="0" smtClean="0"/>
          </a:p>
        </p:txBody>
      </p:sp>
      <p:pic>
        <p:nvPicPr>
          <p:cNvPr id="1026" name="Picture 2" descr="https://upload.wikimedia.org/wikipedia/commons/thumb/d/d8/Git_operations.svg/760px-Git_operations.svg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6505" y="1455047"/>
            <a:ext cx="4423781" cy="36183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2800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Intro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started as a fully open-source project to provide a web-based front end to an otherwise standard </a:t>
            </a:r>
            <a:r>
              <a:rPr lang="en-US" dirty="0" err="1" smtClean="0"/>
              <a:t>Git</a:t>
            </a:r>
            <a:r>
              <a:rPr lang="en-US" dirty="0" smtClean="0"/>
              <a:t> repository/server.</a:t>
            </a:r>
          </a:p>
          <a:p>
            <a:pPr marL="0" lvl="0" indent="0"/>
            <a:r>
              <a:rPr lang="en-US" dirty="0" smtClean="0"/>
              <a:t>In 2013 it split into </a:t>
            </a:r>
          </a:p>
          <a:p>
            <a:pPr marL="285750" lvl="0" indent="-285750">
              <a:buFontTx/>
              <a:buChar char="-"/>
            </a:pPr>
            <a:r>
              <a:rPr lang="en-US" dirty="0" err="1" smtClean="0"/>
              <a:t>GitLab</a:t>
            </a:r>
            <a:r>
              <a:rPr lang="en-US" dirty="0" smtClean="0"/>
              <a:t> CE</a:t>
            </a:r>
          </a:p>
          <a:p>
            <a:pPr marL="285750" lvl="0" indent="-285750">
              <a:buFontTx/>
              <a:buChar char="-"/>
            </a:pPr>
            <a:r>
              <a:rPr lang="en-US" dirty="0" err="1" smtClean="0"/>
              <a:t>GitLab</a:t>
            </a:r>
            <a:r>
              <a:rPr lang="en-US" dirty="0" smtClean="0"/>
              <a:t> EE</a:t>
            </a:r>
          </a:p>
          <a:p>
            <a:pPr marL="285750" lvl="0" indent="-285750">
              <a:buFontTx/>
              <a:buChar char="-"/>
            </a:pPr>
            <a:r>
              <a:rPr lang="en-US" dirty="0" err="1" smtClean="0"/>
              <a:t>GitLab</a:t>
            </a:r>
            <a:r>
              <a:rPr lang="en-US" dirty="0" smtClean="0"/>
              <a:t> Cloud</a:t>
            </a:r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EE is a Ruby Rails application running on Nginx with a PostgreSQL backend. Also uses </a:t>
            </a:r>
            <a:r>
              <a:rPr lang="en-US" dirty="0" err="1" smtClean="0"/>
              <a:t>Redis</a:t>
            </a:r>
            <a:r>
              <a:rPr lang="en-US" dirty="0"/>
              <a:t>.</a:t>
            </a:r>
            <a:endParaRPr lang="en-US" dirty="0" smtClean="0"/>
          </a:p>
          <a:p>
            <a:pPr marL="0" lvl="0" indent="0"/>
            <a:r>
              <a:rPr lang="en-US" dirty="0" smtClean="0"/>
              <a:t>Can be compiled from source or installed from the Yum repo.</a:t>
            </a:r>
          </a:p>
          <a:p>
            <a:pPr marL="0" lvl="0" indent="0"/>
            <a:r>
              <a:rPr lang="en-US" dirty="0" smtClean="0"/>
              <a:t>Actively developed. New (EE) features are often incorporated in the CE branch.</a:t>
            </a:r>
            <a:endParaRPr lang="en-US" dirty="0"/>
          </a:p>
          <a:p>
            <a:pPr marL="0" lvl="0" indent="0"/>
            <a:r>
              <a:rPr lang="en-US" dirty="0" smtClean="0"/>
              <a:t>Quite memory heavy on the server.</a:t>
            </a:r>
          </a:p>
          <a:p>
            <a:pPr marL="0" lvl="0" indent="0"/>
            <a:endParaRPr lang="en-US" dirty="0"/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smtClean="0"/>
              <a:t>Currently being used by</a:t>
            </a:r>
          </a:p>
          <a:p>
            <a:pPr marL="0" lvl="0" indent="0"/>
            <a:endParaRPr lang="en-US" dirty="0"/>
          </a:p>
        </p:txBody>
      </p:sp>
      <p:pic>
        <p:nvPicPr>
          <p:cNvPr id="2050" name="Picture 2" descr="http://cdn.slashgear.com/wp-content/uploads/2016/04/SpaceX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18" y="5283609"/>
            <a:ext cx="2161737" cy="121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upload.wikimedia.org/wikipedia/zh/thumb/d/db/Alibaba_Logo.svg/1280px-Alibaba_Logo.svg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198" y="5283608"/>
            <a:ext cx="2456142" cy="1215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www.crescenttechnologyconsultants.com/Images/vmware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5340" y="5255252"/>
            <a:ext cx="1772452" cy="1272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media.graytvinc.com/images/UBER4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654" y="5381932"/>
            <a:ext cx="1812011" cy="1018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496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– Users and Groups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Every Partners HealthCare user can (technically) login to </a:t>
            </a:r>
            <a:r>
              <a:rPr lang="en-US" dirty="0" err="1" smtClean="0"/>
              <a:t>GitLab</a:t>
            </a:r>
            <a:r>
              <a:rPr lang="en-US" dirty="0" smtClean="0"/>
              <a:t>.</a:t>
            </a:r>
          </a:p>
          <a:p>
            <a:pPr marL="0" lvl="0" indent="0"/>
            <a:r>
              <a:rPr lang="en-US" dirty="0" smtClean="0"/>
              <a:t>Users can personalize their profile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Select avatar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Specify identity (LDAP)</a:t>
            </a:r>
          </a:p>
          <a:p>
            <a:pPr marL="0" lvl="0" indent="0"/>
            <a:r>
              <a:rPr lang="en-US" dirty="0" smtClean="0"/>
              <a:t>Users can be organized into groups of one or more.</a:t>
            </a:r>
          </a:p>
          <a:p>
            <a:pPr marL="0" lvl="0" indent="0"/>
            <a:r>
              <a:rPr lang="en-US" dirty="0" smtClean="0"/>
              <a:t>Users can be assigned to groups and they can also be given the ability to create groups.</a:t>
            </a:r>
          </a:p>
          <a:p>
            <a:pPr marL="0" lvl="0" indent="0"/>
            <a:r>
              <a:rPr lang="en-US" dirty="0" smtClean="0"/>
              <a:t>Users within groups can have different roles, such as Guest, Reporter, Developer, Owner, Master. </a:t>
            </a:r>
          </a:p>
          <a:p>
            <a:pPr marL="0" lvl="0" indent="0"/>
            <a:r>
              <a:rPr lang="en-US" dirty="0" smtClean="0"/>
              <a:t>Groups can be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Private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Public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Internal</a:t>
            </a:r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smtClean="0"/>
              <a:t>Users can specify their own SSH keys for deployment and pull/push, etc</a:t>
            </a:r>
            <a:r>
              <a:rPr lang="en-US" dirty="0"/>
              <a:t>.</a:t>
            </a:r>
            <a:endParaRPr lang="en-US" dirty="0" smtClean="0"/>
          </a:p>
          <a:p>
            <a:pPr marL="0" lvl="0" indent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774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– Projects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Every user is allowed to create 25 projects.</a:t>
            </a:r>
          </a:p>
          <a:p>
            <a:pPr marL="0" lvl="0" indent="0"/>
            <a:r>
              <a:rPr lang="en-US" dirty="0" smtClean="0"/>
              <a:t>Projects can be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Internal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Private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Public</a:t>
            </a:r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smtClean="0"/>
              <a:t>Projects can be shared with group members.</a:t>
            </a:r>
          </a:p>
          <a:p>
            <a:pPr marL="0" lvl="0" indent="0"/>
            <a:r>
              <a:rPr lang="en-US" dirty="0" smtClean="0"/>
              <a:t>Projects can have unique URLs</a:t>
            </a:r>
            <a:endParaRPr lang="en-US" dirty="0"/>
          </a:p>
          <a:p>
            <a:pPr marL="0" lvl="0" indent="0"/>
            <a:r>
              <a:rPr lang="en-US" dirty="0" smtClean="0"/>
              <a:t>Projects can be imported directly from GitHub, </a:t>
            </a:r>
            <a:r>
              <a:rPr lang="en-US" dirty="0" err="1" smtClean="0"/>
              <a:t>Bitbucket</a:t>
            </a:r>
            <a:r>
              <a:rPr lang="en-US" dirty="0" smtClean="0"/>
              <a:t>, etc.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 smtClean="0"/>
              <a:t>Each project has its own dashboard that can list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Recent Activity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Files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Commits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Milestones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Issues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Merge Requests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Labels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Wiki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Forks</a:t>
            </a:r>
          </a:p>
        </p:txBody>
      </p:sp>
    </p:spTree>
    <p:extLst>
      <p:ext uri="{BB962C8B-B14F-4D97-AF65-F5344CB8AC3E}">
        <p14:creationId xmlns:p14="http://schemas.microsoft.com/office/powerpoint/2010/main" val="1545112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– Issues/</a:t>
            </a:r>
            <a:r>
              <a:rPr lang="en-US" dirty="0" err="1" smtClean="0"/>
              <a:t>Todos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A Project can have Issues associated with it.</a:t>
            </a:r>
          </a:p>
          <a:p>
            <a:pPr marL="0" lvl="0" indent="0"/>
            <a:r>
              <a:rPr lang="en-US" dirty="0" smtClean="0"/>
              <a:t>Issues can describe a problem/bug with the code and/or the overall project.</a:t>
            </a:r>
          </a:p>
          <a:p>
            <a:pPr marL="0" lvl="0" indent="0"/>
            <a:r>
              <a:rPr lang="en-US" dirty="0" smtClean="0"/>
              <a:t>An issue has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Title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Description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Assignee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Milestone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Label</a:t>
            </a:r>
            <a:endParaRPr lang="en-US" dirty="0"/>
          </a:p>
          <a:p>
            <a:pPr marL="285750" lvl="0" indent="-285750">
              <a:buFontTx/>
              <a:buChar char="-"/>
            </a:pPr>
            <a:r>
              <a:rPr lang="en-US" dirty="0" smtClean="0"/>
              <a:t>Attachment(s)</a:t>
            </a:r>
          </a:p>
          <a:p>
            <a:pPr marL="285750" lvl="0" indent="-285750">
              <a:buFontTx/>
              <a:buChar char="-"/>
            </a:pPr>
            <a:endParaRPr lang="en-US" dirty="0"/>
          </a:p>
          <a:p>
            <a:pPr marL="0" lvl="0" indent="0"/>
            <a:r>
              <a:rPr lang="en-US" dirty="0" smtClean="0"/>
              <a:t>Issues can be moved from one project to another</a:t>
            </a:r>
            <a:endParaRPr lang="en-US" dirty="0"/>
          </a:p>
          <a:p>
            <a:pPr marL="0" lvl="0" indent="0"/>
            <a:r>
              <a:rPr lang="en-US" dirty="0" smtClean="0"/>
              <a:t>A new branch can be created directly from an issue.</a:t>
            </a:r>
          </a:p>
          <a:p>
            <a:pPr marL="0" lvl="0" indent="0"/>
            <a:r>
              <a:rPr lang="en-US" dirty="0" smtClean="0"/>
              <a:t>An issue can be commented on and/or closed (reopened).</a:t>
            </a:r>
          </a:p>
          <a:p>
            <a:pPr marL="0" lvl="0" indent="0"/>
            <a:r>
              <a:rPr lang="en-US" dirty="0" smtClean="0"/>
              <a:t>If you mention a user with “@”, a “</a:t>
            </a:r>
            <a:r>
              <a:rPr lang="en-US" dirty="0" err="1" smtClean="0"/>
              <a:t>Todo</a:t>
            </a:r>
            <a:r>
              <a:rPr lang="en-US" dirty="0" smtClean="0"/>
              <a:t>” item will be created in that user’s </a:t>
            </a:r>
            <a:r>
              <a:rPr lang="en-US" dirty="0" err="1" smtClean="0"/>
              <a:t>Todo</a:t>
            </a:r>
            <a:r>
              <a:rPr lang="en-US" dirty="0" smtClean="0"/>
              <a:t> list.</a:t>
            </a:r>
          </a:p>
        </p:txBody>
      </p:sp>
    </p:spTree>
    <p:extLst>
      <p:ext uri="{BB962C8B-B14F-4D97-AF65-F5344CB8AC3E}">
        <p14:creationId xmlns:p14="http://schemas.microsoft.com/office/powerpoint/2010/main" val="1802073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– Labels/Milestones/Wiki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Labels can be created to visually differentiate between issue types and merge requests.</a:t>
            </a:r>
          </a:p>
          <a:p>
            <a:pPr marL="0" lvl="0" indent="0"/>
            <a:r>
              <a:rPr lang="en-US" dirty="0" smtClean="0"/>
              <a:t>Labels have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Title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Description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Color (coding)</a:t>
            </a:r>
          </a:p>
          <a:p>
            <a:pPr marL="285750" lvl="0" indent="-285750">
              <a:buFontTx/>
              <a:buChar char="-"/>
            </a:pPr>
            <a:endParaRPr lang="en-US" dirty="0"/>
          </a:p>
          <a:p>
            <a:pPr marL="0" lvl="0" indent="0"/>
            <a:r>
              <a:rPr lang="en-US" dirty="0" smtClean="0"/>
              <a:t>Milestones are points in the project that specify the reaching or completion of a special part of the project. </a:t>
            </a:r>
          </a:p>
          <a:p>
            <a:pPr marL="0" lvl="0" indent="0"/>
            <a:endParaRPr lang="en-US" dirty="0"/>
          </a:p>
          <a:p>
            <a:pPr marL="0" lvl="0" indent="0"/>
            <a:r>
              <a:rPr lang="en-US" dirty="0" smtClean="0"/>
              <a:t>Wiki – you can create pages for a wiki. The information is stored in </a:t>
            </a:r>
            <a:r>
              <a:rPr lang="en-US" dirty="0" err="1" smtClean="0"/>
              <a:t>Git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60940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Hooks, Builds, Runners, </a:t>
            </a:r>
            <a:r>
              <a:rPr lang="en-US" dirty="0" smtClean="0"/>
              <a:t>and CI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allows for the creation of Hooks – binding events to </a:t>
            </a:r>
            <a:r>
              <a:rPr lang="en-US" dirty="0" err="1" smtClean="0"/>
              <a:t>GitLab</a:t>
            </a:r>
            <a:r>
              <a:rPr lang="en-US" dirty="0" smtClean="0"/>
              <a:t> user/project actions. These are URLs that the system calls. Can be configured globally and on a per-project basis.</a:t>
            </a:r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smtClean="0"/>
              <a:t>Continuous Integration</a:t>
            </a:r>
          </a:p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was designed to be used with projects that leverage CI.</a:t>
            </a:r>
          </a:p>
          <a:p>
            <a:pPr marL="0" lvl="0" indent="0"/>
            <a:r>
              <a:rPr lang="en-US" dirty="0" smtClean="0"/>
              <a:t>It allows you to setup runners, track code builds (and background processes).</a:t>
            </a:r>
          </a:p>
          <a:p>
            <a:pPr marL="0" lvl="0" indent="0"/>
            <a:r>
              <a:rPr lang="en-US" dirty="0" smtClean="0"/>
              <a:t>You can specify deployment keys to directly connect to servers and services.</a:t>
            </a:r>
          </a:p>
          <a:p>
            <a:pPr marL="0" lvl="0" indent="0"/>
            <a:r>
              <a:rPr lang="en-US" dirty="0" smtClean="0"/>
              <a:t>Builds are triggered by Merge Request and/or Push.</a:t>
            </a:r>
          </a:p>
          <a:p>
            <a:pPr marL="0" lvl="0" indent="0"/>
            <a:r>
              <a:rPr lang="en-US" dirty="0" smtClean="0"/>
              <a:t>You need to configure the “runner” process.</a:t>
            </a:r>
          </a:p>
          <a:p>
            <a:pPr marL="0" lvl="0" indent="0"/>
            <a:r>
              <a:rPr lang="en-US" dirty="0"/>
              <a:t>More info (</a:t>
            </a:r>
            <a:r>
              <a:rPr lang="en-US" dirty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doc.gitlab.com/ce/ci/quick_start/README.html</a:t>
            </a:r>
            <a:r>
              <a:rPr lang="en-US" dirty="0" smtClean="0"/>
              <a:t>)</a:t>
            </a:r>
          </a:p>
          <a:p>
            <a:pPr marL="0" lvl="0" indent="0"/>
            <a:endParaRPr lang="en-US" dirty="0"/>
          </a:p>
          <a:p>
            <a:pPr marL="0" lvl="0" indent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7860931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APIs and Integration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exposes an API that allows you to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Administer </a:t>
            </a:r>
            <a:r>
              <a:rPr lang="en-US" dirty="0" err="1" smtClean="0"/>
              <a:t>GitLab</a:t>
            </a:r>
            <a:r>
              <a:rPr lang="en-US" dirty="0" smtClean="0"/>
              <a:t>, Users, Groups, Projects, Repositories, Builds … </a:t>
            </a:r>
          </a:p>
          <a:p>
            <a:pPr marL="285750" lvl="0" indent="-285750">
              <a:buFontTx/>
              <a:buChar char="-"/>
            </a:pPr>
            <a:endParaRPr lang="en-US" dirty="0"/>
          </a:p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also integrates with other products and applications, such as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Jira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Bamboo CI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HipChat</a:t>
            </a:r>
          </a:p>
          <a:p>
            <a:pPr marL="285750" lvl="0" indent="-285750">
              <a:buFontTx/>
              <a:buChar char="-"/>
            </a:pPr>
            <a:r>
              <a:rPr lang="en-US" dirty="0" err="1" smtClean="0"/>
              <a:t>PivotalTracker</a:t>
            </a:r>
            <a:endParaRPr lang="en-US" dirty="0" smtClean="0"/>
          </a:p>
          <a:p>
            <a:pPr marL="285750" lvl="0" indent="-285750">
              <a:buFontTx/>
              <a:buChar char="-"/>
            </a:pPr>
            <a:r>
              <a:rPr lang="en-US" dirty="0" err="1" smtClean="0"/>
              <a:t>Redmine</a:t>
            </a:r>
            <a:endParaRPr lang="en-US" dirty="0" smtClean="0"/>
          </a:p>
          <a:p>
            <a:pPr marL="285750" lvl="0" indent="-285750">
              <a:buFontTx/>
              <a:buChar char="-"/>
            </a:pPr>
            <a:r>
              <a:rPr lang="en-US" dirty="0" smtClean="0"/>
              <a:t>Slack</a:t>
            </a:r>
            <a:endParaRPr lang="en-US" dirty="0"/>
          </a:p>
          <a:p>
            <a:pPr marL="0" lvl="0" indent="0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17205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</a:t>
            </a:r>
            <a:r>
              <a:rPr lang="en-US" dirty="0"/>
              <a:t>– </a:t>
            </a:r>
            <a:r>
              <a:rPr lang="en-US" dirty="0" smtClean="0"/>
              <a:t>Parting Thoughts and Demo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So why </a:t>
            </a:r>
            <a:r>
              <a:rPr lang="en-US" dirty="0" err="1" smtClean="0"/>
              <a:t>GitLab</a:t>
            </a:r>
            <a:r>
              <a:rPr lang="en-US" dirty="0" smtClean="0"/>
              <a:t>?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Hosted Internally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Users managed through standard Partners processes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Security, Scalability, and Flexibility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Built-in issue tracker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Powerful integration with other tools  (       )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Very good user access control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Can be tailored to your project</a:t>
            </a:r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smtClean="0"/>
              <a:t>How can I sign up?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Go to </a:t>
            </a:r>
            <a:r>
              <a:rPr lang="en-US" dirty="0" smtClean="0">
                <a:hlinkClick r:id="rId3"/>
              </a:rPr>
              <a:t>https://gitlab.partners.org</a:t>
            </a:r>
            <a:r>
              <a:rPr lang="en-US" dirty="0" smtClean="0"/>
              <a:t> (available only internally to the network/VPN)</a:t>
            </a:r>
          </a:p>
          <a:p>
            <a:pPr marL="285750" lvl="0" indent="-285750">
              <a:buFontTx/>
              <a:buChar char="-"/>
            </a:pPr>
            <a:r>
              <a:rPr lang="en-US" dirty="0" smtClean="0"/>
              <a:t>Login with your username and password</a:t>
            </a:r>
          </a:p>
          <a:p>
            <a:pPr marL="682625" lvl="1" indent="-285750">
              <a:buFontTx/>
              <a:buChar char="-"/>
            </a:pPr>
            <a:r>
              <a:rPr lang="en-US" dirty="0" smtClean="0"/>
              <a:t>You will be told you are blocked – that’s OK – it’s supposed to do that.</a:t>
            </a:r>
          </a:p>
          <a:p>
            <a:pPr marL="682625" lvl="1" indent="-285750">
              <a:buFontTx/>
              <a:buChar char="-"/>
            </a:pPr>
            <a:r>
              <a:rPr lang="en-US" dirty="0" smtClean="0"/>
              <a:t>If your </a:t>
            </a:r>
            <a:r>
              <a:rPr lang="en-US" dirty="0" err="1" smtClean="0"/>
              <a:t>GitLab</a:t>
            </a:r>
            <a:r>
              <a:rPr lang="en-US" dirty="0" smtClean="0"/>
              <a:t> account is not unblocked within an hour, send an e-mail to </a:t>
            </a:r>
            <a:r>
              <a:rPr lang="en-US" dirty="0" smtClean="0">
                <a:hlinkClick r:id="rId4"/>
              </a:rPr>
              <a:t>rcc@partners.org</a:t>
            </a:r>
            <a:r>
              <a:rPr lang="en-US" dirty="0" smtClean="0"/>
              <a:t> to request that your account be unblocked.</a:t>
            </a:r>
          </a:p>
          <a:p>
            <a:pPr marL="1027113" lvl="2" indent="-285750">
              <a:buFontTx/>
              <a:buChar char="-"/>
            </a:pPr>
            <a:r>
              <a:rPr lang="en-US" dirty="0" smtClean="0"/>
              <a:t>In that e-mail you can specify if you want to be able to create groups, more than 25 projects, and any other relevant information to your project</a:t>
            </a:r>
          </a:p>
        </p:txBody>
      </p:sp>
      <p:pic>
        <p:nvPicPr>
          <p:cNvPr id="3074" name="Picture 2" descr="https://pbs.twimg.com/profile_images/714418106098167808/_6-U5xd9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808" y="2468563"/>
            <a:ext cx="451618" cy="451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74700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</a:t>
            </a:r>
            <a:r>
              <a:rPr lang="en-US" dirty="0" smtClean="0"/>
              <a:t>– Demo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/>
              <a:t> </a:t>
            </a:r>
          </a:p>
        </p:txBody>
      </p:sp>
      <p:pic>
        <p:nvPicPr>
          <p:cNvPr id="10242" name="Picture 2" descr="http://www.evision-commerce.com/%7E/media/Images/Logos/Evision/DEMO%20Evision%20ecommerce.ashx?h=166&amp;w=399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1291" y="2834712"/>
            <a:ext cx="3800475" cy="1581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7564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FE0F801-82B8-4697-8B4B-E3DFE003097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GitLab</a:t>
            </a:r>
            <a:r>
              <a:rPr lang="en-US" dirty="0" smtClean="0"/>
              <a:t> </a:t>
            </a:r>
            <a:r>
              <a:rPr lang="en-US" dirty="0" smtClean="0"/>
              <a:t>– References and Resources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566" y="481655"/>
            <a:ext cx="1188720" cy="365760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sz="quarter" idx="23"/>
          </p:nvPr>
        </p:nvSpPr>
        <p:spPr>
          <a:xfrm>
            <a:off x="457199" y="1152143"/>
            <a:ext cx="8439912" cy="5455133"/>
          </a:xfrm>
        </p:spPr>
        <p:txBody>
          <a:bodyPr/>
          <a:lstStyle/>
          <a:p>
            <a:pPr marL="0" lvl="0" indent="0"/>
            <a:r>
              <a:rPr lang="en-US" dirty="0" smtClean="0">
                <a:hlinkClick r:id="rId3"/>
              </a:rPr>
              <a:t>https://gitlab.partners.org</a:t>
            </a:r>
            <a:endParaRPr lang="en-US" dirty="0" smtClean="0"/>
          </a:p>
          <a:p>
            <a:pPr marL="0" lvl="0" indent="0"/>
            <a:endParaRPr lang="en-US" dirty="0"/>
          </a:p>
          <a:p>
            <a:pPr marL="0" lvl="0" indent="0"/>
            <a:r>
              <a:rPr lang="en-US" dirty="0" err="1" smtClean="0"/>
              <a:t>Gitlab</a:t>
            </a:r>
            <a:r>
              <a:rPr lang="en-US" dirty="0" smtClean="0"/>
              <a:t> </a:t>
            </a:r>
            <a:r>
              <a:rPr lang="en-US" dirty="0"/>
              <a:t>CE Documentation - </a:t>
            </a:r>
            <a:r>
              <a:rPr lang="en-US" dirty="0">
                <a:hlinkClick r:id="rId4"/>
              </a:rPr>
              <a:t>http://doc.gitlab.com/ce</a:t>
            </a:r>
            <a:r>
              <a:rPr lang="en-US" dirty="0" smtClean="0">
                <a:hlinkClick r:id="rId4"/>
              </a:rPr>
              <a:t>/</a:t>
            </a:r>
            <a:endParaRPr lang="en-US" dirty="0" smtClean="0"/>
          </a:p>
          <a:p>
            <a:pPr marL="0" lvl="0" indent="0"/>
            <a:r>
              <a:rPr lang="en-US" dirty="0">
                <a:hlinkClick r:id="rId5"/>
              </a:rPr>
              <a:t>https://about.gitlab.com/gitlab-ce-features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pPr marL="0" lvl="0" indent="0"/>
            <a:r>
              <a:rPr lang="en-US" dirty="0">
                <a:hlinkClick r:id="rId5"/>
              </a:rPr>
              <a:t>https://about.gitlab.com/gitlab-ce-features</a:t>
            </a:r>
            <a:r>
              <a:rPr lang="en-US" dirty="0" smtClean="0">
                <a:hlinkClick r:id="rId5"/>
              </a:rPr>
              <a:t>/</a:t>
            </a:r>
            <a:endParaRPr lang="en-US" dirty="0" smtClean="0"/>
          </a:p>
          <a:p>
            <a:pPr marL="0" lvl="0" indent="0"/>
            <a:endParaRPr lang="en-US" dirty="0" smtClean="0"/>
          </a:p>
          <a:p>
            <a:pPr marL="0" lvl="0" indent="0"/>
            <a:r>
              <a:rPr lang="en-US" dirty="0" smtClean="0"/>
              <a:t>Other sources/images</a:t>
            </a:r>
          </a:p>
          <a:p>
            <a:pPr marL="0" lvl="0" indent="0"/>
            <a:r>
              <a:rPr lang="en-US" dirty="0">
                <a:hlinkClick r:id="rId6"/>
              </a:rPr>
              <a:t>http://</a:t>
            </a:r>
            <a:r>
              <a:rPr lang="en-US" dirty="0" smtClean="0">
                <a:hlinkClick r:id="rId6"/>
              </a:rPr>
              <a:t>codicesoftware.blogspot.com/2010/11/version-control-timeline.html</a:t>
            </a:r>
            <a:endParaRPr lang="en-US" dirty="0" smtClean="0"/>
          </a:p>
          <a:p>
            <a:pPr marL="0" lvl="0" indent="0"/>
            <a:r>
              <a:rPr lang="en-US" dirty="0" smtClean="0">
                <a:hlinkClick r:id="rId7"/>
              </a:rPr>
              <a:t>http</a:t>
            </a:r>
            <a:r>
              <a:rPr lang="en-US" dirty="0">
                <a:hlinkClick r:id="rId7"/>
              </a:rPr>
              <a:t>://</a:t>
            </a:r>
            <a:r>
              <a:rPr lang="en-US" dirty="0" smtClean="0">
                <a:hlinkClick r:id="rId7"/>
              </a:rPr>
              <a:t>ericsink.com/vcbe/vcbe_a4_lo.pdf</a:t>
            </a:r>
            <a:endParaRPr lang="en-US" dirty="0" smtClean="0"/>
          </a:p>
          <a:p>
            <a:pPr marL="0" lvl="0" indent="0"/>
            <a:r>
              <a:rPr lang="en-US" dirty="0" smtClean="0"/>
              <a:t>Wikipedia (of course)</a:t>
            </a:r>
          </a:p>
        </p:txBody>
      </p:sp>
    </p:spTree>
    <p:extLst>
      <p:ext uri="{BB962C8B-B14F-4D97-AF65-F5344CB8AC3E}">
        <p14:creationId xmlns:p14="http://schemas.microsoft.com/office/powerpoint/2010/main" val="3198467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tnersTemplate_11.10.15">
  <a:themeElements>
    <a:clrScheme name="Partners Color Palette">
      <a:dk1>
        <a:srgbClr val="000000"/>
      </a:dk1>
      <a:lt1>
        <a:srgbClr val="FFFFFF"/>
      </a:lt1>
      <a:dk2>
        <a:srgbClr val="595959"/>
      </a:dk2>
      <a:lt2>
        <a:srgbClr val="DCDCDC"/>
      </a:lt2>
      <a:accent1>
        <a:srgbClr val="D5E9FF"/>
      </a:accent1>
      <a:accent2>
        <a:srgbClr val="455560"/>
      </a:accent2>
      <a:accent3>
        <a:srgbClr val="008AB0"/>
      </a:accent3>
      <a:accent4>
        <a:srgbClr val="00495D"/>
      </a:accent4>
      <a:accent5>
        <a:srgbClr val="DCDCDC"/>
      </a:accent5>
      <a:accent6>
        <a:srgbClr val="035287"/>
      </a:accent6>
      <a:hlink>
        <a:srgbClr val="0000FF"/>
      </a:hlink>
      <a:folHlink>
        <a:srgbClr val="000000"/>
      </a:folHlink>
    </a:clrScheme>
    <a:fontScheme name="Palatino">
      <a:majorFont>
        <a:latin typeface="Palatino Linotype"/>
        <a:ea typeface=""/>
        <a:cs typeface=""/>
      </a:majorFont>
      <a:minorFont>
        <a:latin typeface="Palatino Linotype"/>
        <a:ea typeface=""/>
        <a:cs typeface="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>
    <a:spDef>
      <a:spPr bwMode="gray">
        <a:solidFill>
          <a:schemeClr val="accent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rtlCol="0" anchor="t" anchorCtr="0" compatLnSpc="1">
        <a:prstTxWarp prst="textNoShape">
          <a:avLst/>
        </a:prstTxWarp>
        <a:noAutofit/>
      </a:bodyPr>
      <a:lstStyle>
        <a:defPPr algn="l" defTabSz="1463675">
          <a:defRPr sz="1400" dirty="0" smtClean="0">
            <a:latin typeface="+mn-lt"/>
          </a:defRPr>
        </a:defPPr>
      </a:lstStyle>
    </a:spDef>
    <a:lnDef>
      <a:spPr bwMode="gray">
        <a:solidFill>
          <a:schemeClr val="accent1"/>
        </a:solidFill>
        <a:ln w="19050" cap="flat" cmpd="sng" algn="ctr">
          <a:solidFill>
            <a:schemeClr val="accent3"/>
          </a:solidFill>
          <a:prstDash val="solid"/>
          <a:round/>
          <a:headEnd type="none" w="med" len="med"/>
          <a:tailEnd type="none"/>
        </a:ln>
        <a:effectLst/>
      </a:spPr>
      <a:bodyPr/>
      <a:lstStyle/>
    </a:lnDef>
    <a:txDef>
      <a:spPr bwMode="gray">
        <a:noFill/>
      </a:spPr>
      <a:bodyPr wrap="square" lIns="45720" rIns="45720" spcCol="45720" rtlCol="0">
        <a:noAutofit/>
      </a:bodyPr>
      <a:lstStyle>
        <a:defPPr algn="l">
          <a:spcBef>
            <a:spcPts val="0"/>
          </a:spcBef>
          <a:defRPr sz="1400" dirty="0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="" xmlns:thm15="http://schemas.microsoft.com/office/thememl/2012/main" name="BP Template" id="{CFF02A8A-683B-45AC-8DBA-F309051FEE49}" vid="{8E9C9355-4B64-48A1-944A-7DB06489D390}"/>
    </a:ext>
  </a:extLst>
</a:theme>
</file>

<file path=ppt/theme/theme2.xml><?xml version="1.0" encoding="utf-8"?>
<a:theme xmlns:a="http://schemas.openxmlformats.org/drawingml/2006/main" name="Office Theme">
  <a:themeElements>
    <a:clrScheme name="ABCO Member PPT Template">
      <a:dk1>
        <a:srgbClr val="000000"/>
      </a:dk1>
      <a:lt1>
        <a:srgbClr val="FFFFFF"/>
      </a:lt1>
      <a:dk2>
        <a:srgbClr val="097ABF"/>
      </a:dk2>
      <a:lt2>
        <a:srgbClr val="BFBFBF"/>
      </a:lt2>
      <a:accent1>
        <a:srgbClr val="C6D9F0"/>
      </a:accent1>
      <a:accent2>
        <a:srgbClr val="74B0E2"/>
      </a:accent2>
      <a:accent3>
        <a:srgbClr val="097ABF"/>
      </a:accent3>
      <a:accent4>
        <a:srgbClr val="20598C"/>
      </a:accent4>
      <a:accent5>
        <a:srgbClr val="000000"/>
      </a:accent5>
      <a:accent6>
        <a:srgbClr val="9E0000"/>
      </a:accent6>
      <a:hlink>
        <a:srgbClr val="000000"/>
      </a:hlink>
      <a:folHlink>
        <a:srgbClr val="0000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ABCO Member PPT Template">
      <a:dk1>
        <a:srgbClr val="000000"/>
      </a:dk1>
      <a:lt1>
        <a:srgbClr val="FFFFFF"/>
      </a:lt1>
      <a:dk2>
        <a:srgbClr val="097ABF"/>
      </a:dk2>
      <a:lt2>
        <a:srgbClr val="BFBFBF"/>
      </a:lt2>
      <a:accent1>
        <a:srgbClr val="C6D9F0"/>
      </a:accent1>
      <a:accent2>
        <a:srgbClr val="74B0E2"/>
      </a:accent2>
      <a:accent3>
        <a:srgbClr val="097ABF"/>
      </a:accent3>
      <a:accent4>
        <a:srgbClr val="20598C"/>
      </a:accent4>
      <a:accent5>
        <a:srgbClr val="000000"/>
      </a:accent5>
      <a:accent6>
        <a:srgbClr val="9E0000"/>
      </a:accent6>
      <a:hlink>
        <a:srgbClr val="000000"/>
      </a:hlink>
      <a:folHlink>
        <a:srgbClr val="00000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PartnersTemplate_11.10.15</Template>
  <TotalTime>4055</TotalTime>
  <Words>1375</Words>
  <Application>Microsoft Office PowerPoint</Application>
  <PresentationFormat>On-screen Show (4:3)</PresentationFormat>
  <Paragraphs>217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PartnersTemplate_11.10.15</vt:lpstr>
      <vt:lpstr>Managing projects and source code with GitLab</vt:lpstr>
      <vt:lpstr>History and Objectives</vt:lpstr>
      <vt:lpstr>GitLab at-a-glance</vt:lpstr>
      <vt:lpstr>What is Source Control (aka Version Control)</vt:lpstr>
      <vt:lpstr>Evolution of Source Control</vt:lpstr>
      <vt:lpstr>Source Control Systems</vt:lpstr>
      <vt:lpstr>Basic Source Control Operations (the lingo)</vt:lpstr>
      <vt:lpstr>GitLab Intro</vt:lpstr>
      <vt:lpstr>GitLab – Users and Groups</vt:lpstr>
      <vt:lpstr>GitLab – Projects</vt:lpstr>
      <vt:lpstr>GitLab – Issues/Todos</vt:lpstr>
      <vt:lpstr>GitLab – Labels/Milestones/Wiki</vt:lpstr>
      <vt:lpstr>GitLab – Hooks, Builds, Runners, and CI</vt:lpstr>
      <vt:lpstr>GitLab – APIs and Integration</vt:lpstr>
      <vt:lpstr>GitLab – Parting Thoughts and Demo</vt:lpstr>
      <vt:lpstr>GitLab – Demo</vt:lpstr>
      <vt:lpstr>GitLab – References and Resources</vt:lpstr>
    </vt:vector>
  </TitlesOfParts>
  <Company>Partners HealthCare System, Inc.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Palatino  24pt Bold</dc:title>
  <dc:creator>Partners Information Systems</dc:creator>
  <cp:lastModifiedBy>Dimitrov, Dimitar S.</cp:lastModifiedBy>
  <cp:revision>111</cp:revision>
  <dcterms:created xsi:type="dcterms:W3CDTF">2015-12-18T19:52:28Z</dcterms:created>
  <dcterms:modified xsi:type="dcterms:W3CDTF">2016-05-05T02:57:33Z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3" name="_NewReviewCycle">
    <vt:lpwstr/>
  </property>
</Properties>
</file>